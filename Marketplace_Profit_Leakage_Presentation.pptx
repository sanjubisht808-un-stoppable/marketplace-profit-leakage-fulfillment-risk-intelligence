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charts/chart3.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inky bisht" userId="ec8215710e46c9fe" providerId="LiveId" clId="{93343573-28FF-4D36-A15E-4BF367EA2A6D}"/>
    <pc:docChg chg="modSld">
      <pc:chgData name="pinky bisht" userId="ec8215710e46c9fe" providerId="LiveId" clId="{93343573-28FF-4D36-A15E-4BF367EA2A6D}" dt="2026-09-30T10:12:22.306" v="0" actId="20577"/>
      <pc:docMkLst>
        <pc:docMk/>
      </pc:docMkLst>
      <pc:sldChg chg="modSp mod">
        <pc:chgData name="pinky bisht" userId="ec8215710e46c9fe" providerId="LiveId" clId="{93343573-28FF-4D36-A15E-4BF367EA2A6D}" dt="2026-09-30T10:12:22.306" v="0" actId="20577"/>
        <pc:sldMkLst>
          <pc:docMk/>
          <pc:sldMk cId="0" sldId="256"/>
        </pc:sldMkLst>
        <pc:spChg chg="mod">
          <ac:chgData name="pinky bisht" userId="ec8215710e46c9fe" providerId="LiveId" clId="{93343573-28FF-4D36-A15E-4BF367EA2A6D}" dt="2026-09-30T10:12:22.306" v="0" actId="20577"/>
          <ac:spMkLst>
            <pc:docMk/>
            <pc:sldMk cId="0" sldId="256"/>
            <ac:spMk id="4"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USD ($M)</c:v>
                </c:pt>
              </c:strCache>
            </c:strRef>
          </c:tx>
          <c:spPr>
            <a:solidFill>
              <a:srgbClr val="1B2A4A"/>
            </a:solidFill>
            <a:effectLst/>
          </c:spPr>
          <c:invertIfNegative val="0"/>
          <c:dPt>
            <c:idx val="0"/>
            <c:invertIfNegative val="0"/>
            <c:bubble3D val="0"/>
            <c:extLst>
              <c:ext xmlns:c16="http://schemas.microsoft.com/office/drawing/2014/chart" uri="{C3380CC4-5D6E-409C-BE32-E72D297353CC}">
                <c16:uniqueId val="{00000001-D996-43D2-8B58-3A2FB3BB1DFF}"/>
              </c:ext>
            </c:extLst>
          </c:dPt>
          <c:dPt>
            <c:idx val="1"/>
            <c:invertIfNegative val="0"/>
            <c:bubble3D val="0"/>
            <c:spPr>
              <a:solidFill>
                <a:srgbClr val="E15554"/>
              </a:solidFill>
              <a:effectLst/>
            </c:spPr>
            <c:extLst>
              <c:ext xmlns:c16="http://schemas.microsoft.com/office/drawing/2014/chart" uri="{C3380CC4-5D6E-409C-BE32-E72D297353CC}">
                <c16:uniqueId val="{00000003-D996-43D2-8B58-3A2FB3BB1DFF}"/>
              </c:ext>
            </c:extLst>
          </c:dPt>
          <c:dPt>
            <c:idx val="2"/>
            <c:invertIfNegative val="0"/>
            <c:bubble3D val="0"/>
            <c:spPr>
              <a:solidFill>
                <a:srgbClr val="2EC4B6"/>
              </a:solidFill>
              <a:effectLst/>
            </c:spPr>
            <c:extLst>
              <c:ext xmlns:c16="http://schemas.microsoft.com/office/drawing/2014/chart" uri="{C3380CC4-5D6E-409C-BE32-E72D297353CC}">
                <c16:uniqueId val="{00000005-D996-43D2-8B58-3A2FB3BB1DFF}"/>
              </c:ext>
            </c:extLst>
          </c:dPt>
          <c:dLbls>
            <c:numFmt formatCode="&quot;$&quot;0.0&quot;M&quot;" sourceLinked="0"/>
            <c:spPr>
              <a:noFill/>
              <a:ln>
                <a:noFill/>
              </a:ln>
              <a:effectLst/>
            </c:spPr>
            <c:txPr>
              <a:bodyPr/>
              <a:lstStyle/>
              <a:p>
                <a:pPr>
                  <a:defRPr sz="1400" b="0" i="0" u="none" strike="noStrike">
                    <a:solidFill>
                      <a:srgbClr val="1B2A4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Reported
Profit</c:v>
                </c:pt>
                <c:pt idx="1">
                  <c:v>Leakage</c:v>
                </c:pt>
                <c:pt idx="2">
                  <c:v>Net
Contribution</c:v>
                </c:pt>
              </c:strCache>
            </c:strRef>
          </c:cat>
          <c:val>
            <c:numRef>
              <c:f>Sheet1!$B$2:$B$4</c:f>
              <c:numCache>
                <c:formatCode>General</c:formatCode>
                <c:ptCount val="3"/>
                <c:pt idx="0">
                  <c:v>128.78</c:v>
                </c:pt>
                <c:pt idx="1">
                  <c:v>25.99</c:v>
                </c:pt>
                <c:pt idx="2">
                  <c:v>102.79</c:v>
                </c:pt>
              </c:numCache>
            </c:numRef>
          </c:val>
          <c:extLst>
            <c:ext xmlns:c16="http://schemas.microsoft.com/office/drawing/2014/chart" uri="{C3380CC4-5D6E-409C-BE32-E72D297353CC}">
              <c16:uniqueId val="{00000006-D996-43D2-8B58-3A2FB3BB1DFF}"/>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50" b="0" i="0" u="none" strike="noStrike">
                <a:solidFill>
                  <a:srgbClr val="1B2A4A"/>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 Late</c:v>
                </c:pt>
              </c:strCache>
            </c:strRef>
          </c:tx>
          <c:spPr>
            <a:solidFill>
              <a:srgbClr val="2EC4B6"/>
            </a:solidFill>
            <a:effectLst/>
          </c:spPr>
          <c:invertIfNegative val="0"/>
          <c:dPt>
            <c:idx val="0"/>
            <c:invertIfNegative val="0"/>
            <c:bubble3D val="0"/>
            <c:extLst>
              <c:ext xmlns:c16="http://schemas.microsoft.com/office/drawing/2014/chart" uri="{C3380CC4-5D6E-409C-BE32-E72D297353CC}">
                <c16:uniqueId val="{00000001-7EBF-4562-BA1A-53C3D637A62B}"/>
              </c:ext>
            </c:extLst>
          </c:dPt>
          <c:dPt>
            <c:idx val="1"/>
            <c:invertIfNegative val="0"/>
            <c:bubble3D val="0"/>
            <c:spPr>
              <a:solidFill>
                <a:srgbClr val="1B2A4A"/>
              </a:solidFill>
              <a:effectLst/>
            </c:spPr>
            <c:extLst>
              <c:ext xmlns:c16="http://schemas.microsoft.com/office/drawing/2014/chart" uri="{C3380CC4-5D6E-409C-BE32-E72D297353CC}">
                <c16:uniqueId val="{00000003-7EBF-4562-BA1A-53C3D637A62B}"/>
              </c:ext>
            </c:extLst>
          </c:dPt>
          <c:dPt>
            <c:idx val="2"/>
            <c:invertIfNegative val="0"/>
            <c:bubble3D val="0"/>
            <c:spPr>
              <a:solidFill>
                <a:srgbClr val="F2B134"/>
              </a:solidFill>
              <a:effectLst/>
            </c:spPr>
            <c:extLst>
              <c:ext xmlns:c16="http://schemas.microsoft.com/office/drawing/2014/chart" uri="{C3380CC4-5D6E-409C-BE32-E72D297353CC}">
                <c16:uniqueId val="{00000005-7EBF-4562-BA1A-53C3D637A62B}"/>
              </c:ext>
            </c:extLst>
          </c:dPt>
          <c:dPt>
            <c:idx val="3"/>
            <c:invertIfNegative val="0"/>
            <c:bubble3D val="0"/>
            <c:spPr>
              <a:solidFill>
                <a:srgbClr val="E15554"/>
              </a:solidFill>
              <a:effectLst/>
            </c:spPr>
            <c:extLst>
              <c:ext xmlns:c16="http://schemas.microsoft.com/office/drawing/2014/chart" uri="{C3380CC4-5D6E-409C-BE32-E72D297353CC}">
                <c16:uniqueId val="{00000007-7EBF-4562-BA1A-53C3D637A62B}"/>
              </c:ext>
            </c:extLst>
          </c:dPt>
          <c:dLbls>
            <c:numFmt formatCode="0.0&quot;%&quot;" sourceLinked="0"/>
            <c:spPr>
              <a:noFill/>
              <a:ln>
                <a:noFill/>
              </a:ln>
              <a:effectLst/>
            </c:spPr>
            <c:txPr>
              <a:bodyPr/>
              <a:lstStyle/>
              <a:p>
                <a:pPr>
                  <a:defRPr sz="1200" b="0" i="0" u="none" strike="noStrike">
                    <a:solidFill>
                      <a:srgbClr val="1B2A4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Economy</c:v>
                </c:pt>
                <c:pt idx="1">
                  <c:v>Standard</c:v>
                </c:pt>
                <c:pt idx="2">
                  <c:v>Express</c:v>
                </c:pt>
                <c:pt idx="3">
                  <c:v>Next Day</c:v>
                </c:pt>
              </c:strCache>
            </c:strRef>
          </c:cat>
          <c:val>
            <c:numRef>
              <c:f>Sheet1!$B$2:$B$5</c:f>
              <c:numCache>
                <c:formatCode>General</c:formatCode>
                <c:ptCount val="4"/>
                <c:pt idx="0">
                  <c:v>42.8</c:v>
                </c:pt>
                <c:pt idx="1">
                  <c:v>64.19</c:v>
                </c:pt>
                <c:pt idx="2">
                  <c:v>78.58</c:v>
                </c:pt>
                <c:pt idx="3">
                  <c:v>92.86</c:v>
                </c:pt>
              </c:numCache>
            </c:numRef>
          </c:val>
          <c:extLst>
            <c:ext xmlns:c16="http://schemas.microsoft.com/office/drawing/2014/chart" uri="{C3380CC4-5D6E-409C-BE32-E72D297353CC}">
              <c16:uniqueId val="{00000008-7EBF-4562-BA1A-53C3D637A62B}"/>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B2A4A"/>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Gross Revenue ($M)</c:v>
                </c:pt>
              </c:strCache>
            </c:strRef>
          </c:tx>
          <c:spPr>
            <a:solidFill>
              <a:srgbClr val="F2B134"/>
            </a:solidFill>
            <a:effectLst/>
          </c:spPr>
          <c:invertIfNegative val="0"/>
          <c:cat>
            <c:strRef>
              <c:f>Sheet1!$A$2:$A$6</c:f>
              <c:strCache>
                <c:ptCount val="5"/>
                <c:pt idx="0">
                  <c:v>Philips</c:v>
                </c:pt>
                <c:pt idx="1">
                  <c:v>Fitbit</c:v>
                </c:pt>
                <c:pt idx="2">
                  <c:v>GoPro</c:v>
                </c:pt>
                <c:pt idx="3">
                  <c:v>Huawei</c:v>
                </c:pt>
                <c:pt idx="4">
                  <c:v>Samsung</c:v>
                </c:pt>
              </c:strCache>
            </c:strRef>
          </c:cat>
          <c:val>
            <c:numRef>
              <c:f>Sheet1!$B$2:$B$6</c:f>
              <c:numCache>
                <c:formatCode>General</c:formatCode>
                <c:ptCount val="5"/>
                <c:pt idx="0">
                  <c:v>16.23</c:v>
                </c:pt>
                <c:pt idx="1">
                  <c:v>16.260000000000002</c:v>
                </c:pt>
                <c:pt idx="2">
                  <c:v>16.25</c:v>
                </c:pt>
                <c:pt idx="3">
                  <c:v>16.170000000000002</c:v>
                </c:pt>
                <c:pt idx="4">
                  <c:v>16.329999999999998</c:v>
                </c:pt>
              </c:numCache>
            </c:numRef>
          </c:val>
          <c:extLst>
            <c:ext xmlns:c16="http://schemas.microsoft.com/office/drawing/2014/chart" uri="{C3380CC4-5D6E-409C-BE32-E72D297353CC}">
              <c16:uniqueId val="{00000000-642D-4E58-9473-3561266F56FA}"/>
            </c:ext>
          </c:extLst>
        </c:ser>
        <c:ser>
          <c:idx val="1"/>
          <c:order val="1"/>
          <c:tx>
            <c:strRef>
              <c:f>Sheet1!$C$1</c:f>
              <c:strCache>
                <c:ptCount val="1"/>
                <c:pt idx="0">
                  <c:v>Net Contribution ($M)</c:v>
                </c:pt>
              </c:strCache>
            </c:strRef>
          </c:tx>
          <c:spPr>
            <a:solidFill>
              <a:srgbClr val="2EC4B6"/>
            </a:solidFill>
            <a:effectLst/>
          </c:spPr>
          <c:invertIfNegative val="0"/>
          <c:cat>
            <c:strRef>
              <c:f>Sheet1!$A$2:$A$6</c:f>
              <c:strCache>
                <c:ptCount val="5"/>
                <c:pt idx="0">
                  <c:v>Philips</c:v>
                </c:pt>
                <c:pt idx="1">
                  <c:v>Fitbit</c:v>
                </c:pt>
                <c:pt idx="2">
                  <c:v>GoPro</c:v>
                </c:pt>
                <c:pt idx="3">
                  <c:v>Huawei</c:v>
                </c:pt>
                <c:pt idx="4">
                  <c:v>Samsung</c:v>
                </c:pt>
              </c:strCache>
            </c:strRef>
          </c:cat>
          <c:val>
            <c:numRef>
              <c:f>Sheet1!$C$2:$C$6</c:f>
              <c:numCache>
                <c:formatCode>General</c:formatCode>
                <c:ptCount val="5"/>
                <c:pt idx="0">
                  <c:v>5.13</c:v>
                </c:pt>
                <c:pt idx="1">
                  <c:v>5.16</c:v>
                </c:pt>
                <c:pt idx="2">
                  <c:v>5.16</c:v>
                </c:pt>
                <c:pt idx="3">
                  <c:v>5.15</c:v>
                </c:pt>
                <c:pt idx="4">
                  <c:v>5.21</c:v>
                </c:pt>
              </c:numCache>
            </c:numRef>
          </c:val>
          <c:extLst>
            <c:ext xmlns:c16="http://schemas.microsoft.com/office/drawing/2014/chart" uri="{C3380CC4-5D6E-409C-BE32-E72D297353CC}">
              <c16:uniqueId val="{00000001-642D-4E58-9473-3561266F56FA}"/>
            </c:ext>
          </c:extLst>
        </c:ser>
        <c:dLbls>
          <c:showLegendKey val="0"/>
          <c:showVal val="0"/>
          <c:showCatName val="0"/>
          <c:showSerName val="0"/>
          <c:showPercent val="0"/>
          <c:showBubbleSize val="0"/>
        </c:dLbls>
        <c:gapWidth val="3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50" b="0" i="0" u="none" strike="noStrike">
                <a:solidFill>
                  <a:srgbClr val="1B2A4A"/>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E4E9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A99"/>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B2A4A"/>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20141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C33"/>
        </a:solidFill>
        <a:effectLst/>
      </p:bgPr>
    </p:bg>
    <p:spTree>
      <p:nvGrpSpPr>
        <p:cNvPr id="1" name=""/>
        <p:cNvGrpSpPr/>
        <p:nvPr/>
      </p:nvGrpSpPr>
      <p:grpSpPr>
        <a:xfrm>
          <a:off x="0" y="0"/>
          <a:ext cx="0" cy="0"/>
          <a:chOff x="0" y="0"/>
          <a:chExt cx="0" cy="0"/>
        </a:xfrm>
      </p:grpSpPr>
      <p:sp>
        <p:nvSpPr>
          <p:cNvPr id="2" name="Shape 0"/>
          <p:cNvSpPr/>
          <p:nvPr/>
        </p:nvSpPr>
        <p:spPr>
          <a:xfrm>
            <a:off x="8778240" y="-2377440"/>
            <a:ext cx="6400800" cy="6400800"/>
          </a:xfrm>
          <a:prstGeom prst="ellipse">
            <a:avLst/>
          </a:prstGeom>
          <a:solidFill>
            <a:srgbClr val="1B2A4A"/>
          </a:solidFill>
          <a:ln/>
        </p:spPr>
      </p:sp>
      <p:sp>
        <p:nvSpPr>
          <p:cNvPr id="3" name="Shape 1"/>
          <p:cNvSpPr/>
          <p:nvPr/>
        </p:nvSpPr>
        <p:spPr>
          <a:xfrm>
            <a:off x="9875520" y="-1463040"/>
            <a:ext cx="4206240" cy="4206240"/>
          </a:xfrm>
          <a:prstGeom prst="ellipse">
            <a:avLst/>
          </a:prstGeom>
          <a:solidFill>
            <a:srgbClr val="233863"/>
          </a:solidFill>
          <a:ln/>
        </p:spPr>
      </p:sp>
      <p:sp>
        <p:nvSpPr>
          <p:cNvPr id="4" name="Text 2"/>
          <p:cNvSpPr txBox="1"/>
          <p:nvPr/>
        </p:nvSpPr>
        <p:spPr>
          <a:xfrm>
            <a:off x="822960" y="1828800"/>
            <a:ext cx="7315200" cy="365760"/>
          </a:xfrm>
          <a:prstGeom prst="rect">
            <a:avLst/>
          </a:prstGeom>
          <a:noFill/>
          <a:ln/>
        </p:spPr>
        <p:txBody>
          <a:bodyPr wrap="square" lIns="0" tIns="0" rIns="0" bIns="0" rtlCol="0" anchor="ctr"/>
          <a:lstStyle/>
          <a:p>
            <a:pPr marL="0" indent="0">
              <a:buNone/>
            </a:pPr>
            <a:r>
              <a:rPr lang="en-US" sz="1300" b="1" kern="0" spc="300" dirty="0">
                <a:solidFill>
                  <a:srgbClr val="2EC4B6"/>
                </a:solidFill>
                <a:latin typeface="Calibri" pitchFamily="34" charset="0"/>
                <a:ea typeface="Calibri" pitchFamily="34" charset="-122"/>
                <a:cs typeface="Calibri" pitchFamily="34" charset="-120"/>
              </a:rPr>
              <a:t>DATA ANALYTICS PROJECT</a:t>
            </a:r>
            <a:endParaRPr lang="en-US" sz="1300" dirty="0"/>
          </a:p>
        </p:txBody>
      </p:sp>
      <p:sp>
        <p:nvSpPr>
          <p:cNvPr id="5" name="Text 3"/>
          <p:cNvSpPr txBox="1"/>
          <p:nvPr/>
        </p:nvSpPr>
        <p:spPr>
          <a:xfrm>
            <a:off x="822960" y="2286000"/>
            <a:ext cx="9875520" cy="1828800"/>
          </a:xfrm>
          <a:prstGeom prst="rect">
            <a:avLst/>
          </a:prstGeom>
          <a:noFill/>
          <a:ln/>
        </p:spPr>
        <p:txBody>
          <a:bodyPr wrap="square" lIns="0" tIns="0" rIns="0" bIns="0" rtlCol="0" anchor="ctr"/>
          <a:lstStyle/>
          <a:p>
            <a:pPr marL="0" indent="0">
              <a:lnSpc>
                <a:spcPct val="105000"/>
              </a:lnSpc>
              <a:buNone/>
            </a:pPr>
            <a:r>
              <a:rPr lang="en-US" sz="4400" b="1" dirty="0">
                <a:solidFill>
                  <a:srgbClr val="FFFFFF"/>
                </a:solidFill>
                <a:latin typeface="Cambria" pitchFamily="34" charset="0"/>
                <a:ea typeface="Cambria" pitchFamily="34" charset="-122"/>
                <a:cs typeface="Cambria" pitchFamily="34" charset="-120"/>
              </a:rPr>
              <a:t>Marketplace Profit Leakage</a:t>
            </a:r>
            <a:endParaRPr lang="en-US" sz="4400" dirty="0"/>
          </a:p>
          <a:p>
            <a:pPr marL="0" indent="0">
              <a:lnSpc>
                <a:spcPct val="105000"/>
              </a:lnSpc>
              <a:buNone/>
            </a:pPr>
            <a:r>
              <a:rPr lang="en-US" sz="4400" b="1" dirty="0">
                <a:solidFill>
                  <a:srgbClr val="FFFFFF"/>
                </a:solidFill>
                <a:latin typeface="Cambria" pitchFamily="34" charset="0"/>
                <a:ea typeface="Cambria" pitchFamily="34" charset="-122"/>
                <a:cs typeface="Cambria" pitchFamily="34" charset="-120"/>
              </a:rPr>
              <a:t>&amp; Fulfillment Risk Intelligence</a:t>
            </a:r>
            <a:endParaRPr lang="en-US" sz="4400" dirty="0"/>
          </a:p>
        </p:txBody>
      </p:sp>
      <p:sp>
        <p:nvSpPr>
          <p:cNvPr id="6" name="Text 4"/>
          <p:cNvSpPr txBox="1"/>
          <p:nvPr/>
        </p:nvSpPr>
        <p:spPr>
          <a:xfrm>
            <a:off x="822960" y="4160520"/>
            <a:ext cx="8686800" cy="548640"/>
          </a:xfrm>
          <a:prstGeom prst="rect">
            <a:avLst/>
          </a:prstGeom>
          <a:noFill/>
          <a:ln/>
        </p:spPr>
        <p:txBody>
          <a:bodyPr wrap="square" lIns="0" tIns="0" rIns="0" bIns="0" rtlCol="0" anchor="ctr"/>
          <a:lstStyle/>
          <a:p>
            <a:pPr marL="0" indent="0">
              <a:buNone/>
            </a:pPr>
            <a:r>
              <a:rPr lang="en-US" sz="1600" i="1" dirty="0">
                <a:solidFill>
                  <a:srgbClr val="C7D3E8"/>
                </a:solidFill>
                <a:latin typeface="Calibri" pitchFamily="34" charset="0"/>
                <a:ea typeface="Calibri" pitchFamily="34" charset="-122"/>
                <a:cs typeface="Calibri" pitchFamily="34" charset="-120"/>
              </a:rPr>
              <a:t>Finding the $26M hidden inside a profit report — an end-to-end analysis in Python, SQL, and Power BI</a:t>
            </a:r>
            <a:endParaRPr lang="en-US" sz="1600" dirty="0"/>
          </a:p>
        </p:txBody>
      </p:sp>
      <p:sp>
        <p:nvSpPr>
          <p:cNvPr id="7" name="Shape 5"/>
          <p:cNvSpPr/>
          <p:nvPr/>
        </p:nvSpPr>
        <p:spPr>
          <a:xfrm>
            <a:off x="822960" y="4983480"/>
            <a:ext cx="923544" cy="411480"/>
          </a:xfrm>
          <a:prstGeom prst="roundRect">
            <a:avLst>
              <a:gd name="adj" fmla="val 17778"/>
            </a:avLst>
          </a:prstGeom>
          <a:solidFill>
            <a:srgbClr val="233863"/>
          </a:solidFill>
          <a:ln w="12700">
            <a:solidFill>
              <a:srgbClr val="2EC4B6"/>
            </a:solidFill>
            <a:prstDash val="solid"/>
          </a:ln>
        </p:spPr>
      </p:sp>
      <p:sp>
        <p:nvSpPr>
          <p:cNvPr id="8" name="Text 6"/>
          <p:cNvSpPr txBox="1"/>
          <p:nvPr/>
        </p:nvSpPr>
        <p:spPr>
          <a:xfrm>
            <a:off x="822960" y="4983480"/>
            <a:ext cx="923544" cy="411480"/>
          </a:xfrm>
          <a:prstGeom prst="rect">
            <a:avLst/>
          </a:prstGeom>
          <a:noFill/>
          <a:ln/>
        </p:spPr>
        <p:txBody>
          <a:bodyPr wrap="square" lIns="0" tIns="0" rIns="0" bIns="0" rtlCol="0" anchor="ctr"/>
          <a:lstStyle/>
          <a:p>
            <a:pPr marL="0" indent="0" algn="ctr">
              <a:buNone/>
            </a:pPr>
            <a:r>
              <a:rPr lang="en-US" sz="1150" b="1" dirty="0">
                <a:solidFill>
                  <a:srgbClr val="2EC4B6"/>
                </a:solidFill>
                <a:latin typeface="Calibri" pitchFamily="34" charset="0"/>
                <a:ea typeface="Calibri" pitchFamily="34" charset="-122"/>
                <a:cs typeface="Calibri" pitchFamily="34" charset="-120"/>
              </a:rPr>
              <a:t>PYTHON</a:t>
            </a:r>
            <a:endParaRPr lang="en-US" sz="1150" dirty="0"/>
          </a:p>
        </p:txBody>
      </p:sp>
      <p:sp>
        <p:nvSpPr>
          <p:cNvPr id="9" name="Shape 7"/>
          <p:cNvSpPr/>
          <p:nvPr/>
        </p:nvSpPr>
        <p:spPr>
          <a:xfrm>
            <a:off x="1929384" y="4983480"/>
            <a:ext cx="822960" cy="411480"/>
          </a:xfrm>
          <a:prstGeom prst="roundRect">
            <a:avLst>
              <a:gd name="adj" fmla="val 17778"/>
            </a:avLst>
          </a:prstGeom>
          <a:solidFill>
            <a:srgbClr val="233863"/>
          </a:solidFill>
          <a:ln w="12700">
            <a:solidFill>
              <a:srgbClr val="2EC4B6"/>
            </a:solidFill>
            <a:prstDash val="solid"/>
          </a:ln>
        </p:spPr>
      </p:sp>
      <p:sp>
        <p:nvSpPr>
          <p:cNvPr id="10" name="Text 8"/>
          <p:cNvSpPr txBox="1"/>
          <p:nvPr/>
        </p:nvSpPr>
        <p:spPr>
          <a:xfrm>
            <a:off x="1929384" y="4983480"/>
            <a:ext cx="822960" cy="411480"/>
          </a:xfrm>
          <a:prstGeom prst="rect">
            <a:avLst/>
          </a:prstGeom>
          <a:noFill/>
          <a:ln/>
        </p:spPr>
        <p:txBody>
          <a:bodyPr wrap="square" lIns="0" tIns="0" rIns="0" bIns="0" rtlCol="0" anchor="ctr"/>
          <a:lstStyle/>
          <a:p>
            <a:pPr marL="0" indent="0" algn="ctr">
              <a:buNone/>
            </a:pPr>
            <a:r>
              <a:rPr lang="en-US" sz="1150" b="1" dirty="0">
                <a:solidFill>
                  <a:srgbClr val="2EC4B6"/>
                </a:solidFill>
                <a:latin typeface="Calibri" pitchFamily="34" charset="0"/>
                <a:ea typeface="Calibri" pitchFamily="34" charset="-122"/>
                <a:cs typeface="Calibri" pitchFamily="34" charset="-120"/>
              </a:rPr>
              <a:t>MYSQL</a:t>
            </a:r>
            <a:endParaRPr lang="en-US" sz="1150" dirty="0"/>
          </a:p>
        </p:txBody>
      </p:sp>
      <p:sp>
        <p:nvSpPr>
          <p:cNvPr id="11" name="Shape 9"/>
          <p:cNvSpPr/>
          <p:nvPr/>
        </p:nvSpPr>
        <p:spPr>
          <a:xfrm>
            <a:off x="2935224" y="4983480"/>
            <a:ext cx="1124712" cy="411480"/>
          </a:xfrm>
          <a:prstGeom prst="roundRect">
            <a:avLst>
              <a:gd name="adj" fmla="val 17778"/>
            </a:avLst>
          </a:prstGeom>
          <a:solidFill>
            <a:srgbClr val="233863"/>
          </a:solidFill>
          <a:ln w="12700">
            <a:solidFill>
              <a:srgbClr val="2EC4B6"/>
            </a:solidFill>
            <a:prstDash val="solid"/>
          </a:ln>
        </p:spPr>
      </p:sp>
      <p:sp>
        <p:nvSpPr>
          <p:cNvPr id="12" name="Text 10"/>
          <p:cNvSpPr txBox="1"/>
          <p:nvPr/>
        </p:nvSpPr>
        <p:spPr>
          <a:xfrm>
            <a:off x="2935224" y="4983480"/>
            <a:ext cx="1124712" cy="411480"/>
          </a:xfrm>
          <a:prstGeom prst="rect">
            <a:avLst/>
          </a:prstGeom>
          <a:noFill/>
          <a:ln/>
        </p:spPr>
        <p:txBody>
          <a:bodyPr wrap="square" lIns="0" tIns="0" rIns="0" bIns="0" rtlCol="0" anchor="ctr"/>
          <a:lstStyle/>
          <a:p>
            <a:pPr marL="0" indent="0" algn="ctr">
              <a:buNone/>
            </a:pPr>
            <a:r>
              <a:rPr lang="en-US" sz="1150" b="1" dirty="0">
                <a:solidFill>
                  <a:srgbClr val="2EC4B6"/>
                </a:solidFill>
                <a:latin typeface="Calibri" pitchFamily="34" charset="0"/>
                <a:ea typeface="Calibri" pitchFamily="34" charset="-122"/>
                <a:cs typeface="Calibri" pitchFamily="34" charset="-120"/>
              </a:rPr>
              <a:t>POWER BI</a:t>
            </a:r>
            <a:endParaRPr lang="en-US" sz="1150" dirty="0"/>
          </a:p>
        </p:txBody>
      </p:sp>
      <p:sp>
        <p:nvSpPr>
          <p:cNvPr id="13" name="Text 11"/>
          <p:cNvSpPr txBox="1"/>
          <p:nvPr/>
        </p:nvSpPr>
        <p:spPr>
          <a:xfrm>
            <a:off x="822960" y="6172200"/>
            <a:ext cx="9144000" cy="320040"/>
          </a:xfrm>
          <a:prstGeom prst="rect">
            <a:avLst/>
          </a:prstGeom>
          <a:noFill/>
          <a:ln/>
        </p:spPr>
        <p:txBody>
          <a:bodyPr wrap="square" lIns="0" tIns="0" rIns="0" bIns="0" rtlCol="0" anchor="ctr"/>
          <a:lstStyle/>
          <a:p>
            <a:pPr marL="0" indent="0">
              <a:buNone/>
            </a:pPr>
            <a:r>
              <a:rPr lang="en-US" sz="1100" dirty="0">
                <a:solidFill>
                  <a:srgbClr val="8896B3"/>
                </a:solidFill>
                <a:latin typeface="Calibri" pitchFamily="34" charset="0"/>
                <a:ea typeface="Calibri" pitchFamily="34" charset="-122"/>
                <a:cs typeface="Calibri" pitchFamily="34" charset="-120"/>
              </a:rPr>
              <a:t>Prepared by [Your Name]   |   [your.email@example.com]   |   [LinkedIn / GitHub]</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9144000" cy="320040"/>
          </a:xfrm>
          <a:prstGeom prst="rect">
            <a:avLst/>
          </a:prstGeom>
          <a:noFill/>
          <a:ln/>
        </p:spPr>
        <p:txBody>
          <a:bodyPr wrap="square" lIns="0" tIns="0" rIns="0" bIns="0" rtlCol="0" anchor="ctr"/>
          <a:lstStyle/>
          <a:p>
            <a:pPr marL="0" indent="0">
              <a:buNone/>
            </a:pPr>
            <a:r>
              <a:rPr lang="en-US" sz="1300" b="1" kern="0" spc="200" dirty="0">
                <a:solidFill>
                  <a:srgbClr val="E15554"/>
                </a:solidFill>
                <a:latin typeface="Calibri" pitchFamily="34" charset="0"/>
                <a:ea typeface="Calibri" pitchFamily="34" charset="-122"/>
                <a:cs typeface="Calibri" pitchFamily="34" charset="-120"/>
              </a:rPr>
              <a:t>THE BUSINESS PROBLEM</a:t>
            </a:r>
            <a:endParaRPr lang="en-US" sz="1300" dirty="0"/>
          </a:p>
        </p:txBody>
      </p:sp>
      <p:sp>
        <p:nvSpPr>
          <p:cNvPr id="3" name="Text 1"/>
          <p:cNvSpPr txBox="1"/>
          <p:nvPr/>
        </p:nvSpPr>
        <p:spPr>
          <a:xfrm>
            <a:off x="640080" y="713232"/>
            <a:ext cx="10789920" cy="77724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Reported Profit Isn't Always Real Profit</a:t>
            </a:r>
            <a:endParaRPr lang="en-US" sz="3200" dirty="0"/>
          </a:p>
        </p:txBody>
      </p:sp>
      <p:sp>
        <p:nvSpPr>
          <p:cNvPr id="4" name="Shape 2"/>
          <p:cNvSpPr/>
          <p:nvPr/>
        </p:nvSpPr>
        <p:spPr>
          <a:xfrm>
            <a:off x="640080" y="1874520"/>
            <a:ext cx="502920" cy="502920"/>
          </a:xfrm>
          <a:prstGeom prst="ellipse">
            <a:avLst/>
          </a:prstGeom>
          <a:solidFill>
            <a:srgbClr val="1B2A4A"/>
          </a:solidFill>
          <a:ln/>
        </p:spPr>
      </p:sp>
      <p:pic>
        <p:nvPicPr>
          <p:cNvPr id="5" name="Image 0" descr="/home/claude/deck/icons/truck_white.png"/>
          <p:cNvPicPr>
            <a:picLocks noChangeAspect="1"/>
          </p:cNvPicPr>
          <p:nvPr/>
        </p:nvPicPr>
        <p:blipFill>
          <a:blip r:embed="rId3"/>
          <a:stretch>
            <a:fillRect/>
          </a:stretch>
        </p:blipFill>
        <p:spPr>
          <a:xfrm>
            <a:off x="710489" y="1944929"/>
            <a:ext cx="362102" cy="362102"/>
          </a:xfrm>
          <a:prstGeom prst="rect">
            <a:avLst/>
          </a:prstGeom>
        </p:spPr>
      </p:pic>
      <p:sp>
        <p:nvSpPr>
          <p:cNvPr id="6" name="Text 3"/>
          <p:cNvSpPr txBox="1"/>
          <p:nvPr/>
        </p:nvSpPr>
        <p:spPr>
          <a:xfrm>
            <a:off x="1371600" y="1874520"/>
            <a:ext cx="5212080" cy="502920"/>
          </a:xfrm>
          <a:prstGeom prst="rect">
            <a:avLst/>
          </a:prstGeom>
          <a:noFill/>
          <a:ln/>
        </p:spPr>
        <p:txBody>
          <a:bodyPr wrap="square" lIns="0" tIns="0" rIns="0" bIns="0" rtlCol="0" anchor="ctr"/>
          <a:lstStyle/>
          <a:p>
            <a:pPr marL="0" indent="0">
              <a:buNone/>
            </a:pPr>
            <a:r>
              <a:rPr lang="en-US" sz="1450" dirty="0">
                <a:solidFill>
                  <a:srgbClr val="1B2A4A"/>
                </a:solidFill>
                <a:latin typeface="Calibri" pitchFamily="34" charset="0"/>
                <a:ea typeface="Calibri" pitchFamily="34" charset="-122"/>
                <a:cs typeface="Calibri" pitchFamily="34" charset="-120"/>
              </a:rPr>
              <a:t>Every return is a refund — and the shipping cost already spent is never recovered.</a:t>
            </a:r>
            <a:endParaRPr lang="en-US" sz="1450" dirty="0"/>
          </a:p>
        </p:txBody>
      </p:sp>
      <p:sp>
        <p:nvSpPr>
          <p:cNvPr id="7" name="Shape 4"/>
          <p:cNvSpPr/>
          <p:nvPr/>
        </p:nvSpPr>
        <p:spPr>
          <a:xfrm>
            <a:off x="640080" y="2651760"/>
            <a:ext cx="502920" cy="502920"/>
          </a:xfrm>
          <a:prstGeom prst="ellipse">
            <a:avLst/>
          </a:prstGeom>
          <a:solidFill>
            <a:srgbClr val="1B2A4A"/>
          </a:solidFill>
          <a:ln/>
        </p:spPr>
      </p:sp>
      <p:pic>
        <p:nvPicPr>
          <p:cNvPr id="8" name="Image 1" descr="/home/claude/deck/icons/tags_white.png"/>
          <p:cNvPicPr>
            <a:picLocks noChangeAspect="1"/>
          </p:cNvPicPr>
          <p:nvPr/>
        </p:nvPicPr>
        <p:blipFill>
          <a:blip r:embed="rId4"/>
          <a:stretch>
            <a:fillRect/>
          </a:stretch>
        </p:blipFill>
        <p:spPr>
          <a:xfrm>
            <a:off x="710489" y="2722169"/>
            <a:ext cx="362102" cy="362102"/>
          </a:xfrm>
          <a:prstGeom prst="rect">
            <a:avLst/>
          </a:prstGeom>
        </p:spPr>
      </p:pic>
      <p:sp>
        <p:nvSpPr>
          <p:cNvPr id="9" name="Text 5"/>
          <p:cNvSpPr txBox="1"/>
          <p:nvPr/>
        </p:nvSpPr>
        <p:spPr>
          <a:xfrm>
            <a:off x="1371600" y="2651760"/>
            <a:ext cx="5212080" cy="502920"/>
          </a:xfrm>
          <a:prstGeom prst="rect">
            <a:avLst/>
          </a:prstGeom>
          <a:noFill/>
          <a:ln/>
        </p:spPr>
        <p:txBody>
          <a:bodyPr wrap="square" lIns="0" tIns="0" rIns="0" bIns="0" rtlCol="0" anchor="ctr"/>
          <a:lstStyle/>
          <a:p>
            <a:pPr marL="0" indent="0">
              <a:buNone/>
            </a:pPr>
            <a:r>
              <a:rPr lang="en-US" sz="1450" dirty="0">
                <a:solidFill>
                  <a:srgbClr val="1B2A4A"/>
                </a:solidFill>
                <a:latin typeface="Calibri" pitchFamily="34" charset="0"/>
                <a:ea typeface="Calibri" pitchFamily="34" charset="-122"/>
                <a:cs typeface="Calibri" pitchFamily="34" charset="-120"/>
              </a:rPr>
              <a:t>Some brands look like top sellers by revenue, but lose money once returns are counted.</a:t>
            </a:r>
            <a:endParaRPr lang="en-US" sz="1450" dirty="0"/>
          </a:p>
        </p:txBody>
      </p:sp>
      <p:sp>
        <p:nvSpPr>
          <p:cNvPr id="10" name="Shape 6"/>
          <p:cNvSpPr/>
          <p:nvPr/>
        </p:nvSpPr>
        <p:spPr>
          <a:xfrm>
            <a:off x="640080" y="3429000"/>
            <a:ext cx="502920" cy="502920"/>
          </a:xfrm>
          <a:prstGeom prst="ellipse">
            <a:avLst/>
          </a:prstGeom>
          <a:solidFill>
            <a:srgbClr val="1B2A4A"/>
          </a:solidFill>
          <a:ln/>
        </p:spPr>
      </p:sp>
      <p:pic>
        <p:nvPicPr>
          <p:cNvPr id="11" name="Image 2" descr="/home/claude/deck/icons/shield_white.png"/>
          <p:cNvPicPr>
            <a:picLocks noChangeAspect="1"/>
          </p:cNvPicPr>
          <p:nvPr/>
        </p:nvPicPr>
        <p:blipFill>
          <a:blip r:embed="rId5"/>
          <a:stretch>
            <a:fillRect/>
          </a:stretch>
        </p:blipFill>
        <p:spPr>
          <a:xfrm>
            <a:off x="710489" y="3499409"/>
            <a:ext cx="362102" cy="362102"/>
          </a:xfrm>
          <a:prstGeom prst="rect">
            <a:avLst/>
          </a:prstGeom>
        </p:spPr>
      </p:pic>
      <p:sp>
        <p:nvSpPr>
          <p:cNvPr id="12" name="Text 7"/>
          <p:cNvSpPr txBox="1"/>
          <p:nvPr/>
        </p:nvSpPr>
        <p:spPr>
          <a:xfrm>
            <a:off x="1371600" y="3429000"/>
            <a:ext cx="5212080" cy="502920"/>
          </a:xfrm>
          <a:prstGeom prst="rect">
            <a:avLst/>
          </a:prstGeom>
          <a:noFill/>
          <a:ln/>
        </p:spPr>
        <p:txBody>
          <a:bodyPr wrap="square" lIns="0" tIns="0" rIns="0" bIns="0" rtlCol="0" anchor="ctr"/>
          <a:lstStyle/>
          <a:p>
            <a:pPr marL="0" indent="0">
              <a:buNone/>
            </a:pPr>
            <a:r>
              <a:rPr lang="en-US" sz="1450" dirty="0">
                <a:solidFill>
                  <a:srgbClr val="1B2A4A"/>
                </a:solidFill>
                <a:latin typeface="Calibri" pitchFamily="34" charset="0"/>
                <a:ea typeface="Calibri" pitchFamily="34" charset="-122"/>
                <a:cs typeface="Calibri" pitchFamily="34" charset="-120"/>
              </a:rPr>
              <a:t>Shipping promises like “Next Day” may be failing far more often than customers realize.</a:t>
            </a:r>
            <a:endParaRPr lang="en-US" sz="1450" dirty="0"/>
          </a:p>
        </p:txBody>
      </p:sp>
      <p:sp>
        <p:nvSpPr>
          <p:cNvPr id="13" name="Text 8"/>
          <p:cNvSpPr txBox="1"/>
          <p:nvPr/>
        </p:nvSpPr>
        <p:spPr>
          <a:xfrm>
            <a:off x="640080" y="4343400"/>
            <a:ext cx="5669280" cy="365760"/>
          </a:xfrm>
          <a:prstGeom prst="rect">
            <a:avLst/>
          </a:prstGeom>
          <a:noFill/>
          <a:ln/>
        </p:spPr>
        <p:txBody>
          <a:bodyPr wrap="square" lIns="0" tIns="0" rIns="0" bIns="0" rtlCol="0" anchor="ctr"/>
          <a:lstStyle/>
          <a:p>
            <a:pPr marL="0" indent="0">
              <a:buNone/>
            </a:pPr>
            <a:r>
              <a:rPr lang="en-US" sz="1300" dirty="0">
                <a:solidFill>
                  <a:srgbClr val="6B7A99"/>
                </a:solidFill>
                <a:latin typeface="Calibri" pitchFamily="34" charset="0"/>
                <a:ea typeface="Calibri" pitchFamily="34" charset="-122"/>
                <a:cs typeface="Calibri" pitchFamily="34" charset="-120"/>
              </a:rPr>
              <a:t>This project answers one question:</a:t>
            </a:r>
            <a:endParaRPr lang="en-US" sz="1300" dirty="0"/>
          </a:p>
        </p:txBody>
      </p:sp>
      <p:sp>
        <p:nvSpPr>
          <p:cNvPr id="14" name="Text 9"/>
          <p:cNvSpPr txBox="1"/>
          <p:nvPr/>
        </p:nvSpPr>
        <p:spPr>
          <a:xfrm>
            <a:off x="640080" y="4663440"/>
            <a:ext cx="5760720" cy="1005840"/>
          </a:xfrm>
          <a:prstGeom prst="rect">
            <a:avLst/>
          </a:prstGeom>
          <a:noFill/>
          <a:ln/>
        </p:spPr>
        <p:txBody>
          <a:bodyPr wrap="square" lIns="0" tIns="0" rIns="0" bIns="0" rtlCol="0" anchor="ctr"/>
          <a:lstStyle/>
          <a:p>
            <a:pPr marL="0" indent="0">
              <a:buNone/>
            </a:pPr>
            <a:r>
              <a:rPr lang="en-US" sz="1900" b="1" i="1" dirty="0">
                <a:solidFill>
                  <a:srgbClr val="1B2A4A"/>
                </a:solidFill>
                <a:latin typeface="Cambria" pitchFamily="34" charset="0"/>
                <a:ea typeface="Cambria" pitchFamily="34" charset="-122"/>
                <a:cs typeface="Cambria" pitchFamily="34" charset="-120"/>
              </a:rPr>
              <a:t>Of the profit this business reports, how much is real — and where does the rest disappear?</a:t>
            </a:r>
            <a:endParaRPr lang="en-US" sz="1900" dirty="0"/>
          </a:p>
        </p:txBody>
      </p:sp>
      <p:sp>
        <p:nvSpPr>
          <p:cNvPr id="15" name="Shape 10"/>
          <p:cNvSpPr/>
          <p:nvPr/>
        </p:nvSpPr>
        <p:spPr>
          <a:xfrm>
            <a:off x="6858000" y="1828800"/>
            <a:ext cx="4709160" cy="4160520"/>
          </a:xfrm>
          <a:prstGeom prst="roundRect">
            <a:avLst>
              <a:gd name="adj" fmla="val 2637"/>
            </a:avLst>
          </a:prstGeom>
          <a:solidFill>
            <a:srgbClr val="EAF1FB"/>
          </a:solidFill>
          <a:ln/>
        </p:spPr>
      </p:sp>
      <p:sp>
        <p:nvSpPr>
          <p:cNvPr id="16" name="Text 11"/>
          <p:cNvSpPr txBox="1"/>
          <p:nvPr/>
        </p:nvSpPr>
        <p:spPr>
          <a:xfrm>
            <a:off x="7178040" y="2148840"/>
            <a:ext cx="4023360" cy="274320"/>
          </a:xfrm>
          <a:prstGeom prst="rect">
            <a:avLst/>
          </a:prstGeom>
          <a:noFill/>
          <a:ln/>
        </p:spPr>
        <p:txBody>
          <a:bodyPr wrap="square" lIns="0" tIns="0" rIns="0" bIns="0" rtlCol="0" anchor="ctr"/>
          <a:lstStyle/>
          <a:p>
            <a:pPr marL="0" indent="0">
              <a:buNone/>
            </a:pPr>
            <a:r>
              <a:rPr lang="en-US" sz="1200" b="1" kern="0" spc="150" dirty="0">
                <a:solidFill>
                  <a:srgbClr val="6B7A99"/>
                </a:solidFill>
                <a:latin typeface="Calibri" pitchFamily="34" charset="0"/>
                <a:ea typeface="Calibri" pitchFamily="34" charset="-122"/>
                <a:cs typeface="Calibri" pitchFamily="34" charset="-120"/>
              </a:rPr>
              <a:t>REPORTED PROFIT</a:t>
            </a:r>
            <a:endParaRPr lang="en-US" sz="1200" dirty="0"/>
          </a:p>
        </p:txBody>
      </p:sp>
      <p:sp>
        <p:nvSpPr>
          <p:cNvPr id="17" name="Text 12"/>
          <p:cNvSpPr txBox="1"/>
          <p:nvPr/>
        </p:nvSpPr>
        <p:spPr>
          <a:xfrm>
            <a:off x="7178040" y="2423160"/>
            <a:ext cx="4023360" cy="685800"/>
          </a:xfrm>
          <a:prstGeom prst="rect">
            <a:avLst/>
          </a:prstGeom>
          <a:noFill/>
          <a:ln/>
        </p:spPr>
        <p:txBody>
          <a:bodyPr wrap="square" lIns="0" tIns="0" rIns="0" bIns="0" rtlCol="0" anchor="ctr"/>
          <a:lstStyle/>
          <a:p>
            <a:pPr marL="0" indent="0">
              <a:buNone/>
            </a:pPr>
            <a:r>
              <a:rPr lang="en-US" sz="4000" b="1" dirty="0">
                <a:solidFill>
                  <a:srgbClr val="1B2A4A"/>
                </a:solidFill>
                <a:latin typeface="Cambria" pitchFamily="34" charset="0"/>
                <a:ea typeface="Cambria" pitchFamily="34" charset="-122"/>
                <a:cs typeface="Cambria" pitchFamily="34" charset="-120"/>
              </a:rPr>
              <a:t>$128.78M</a:t>
            </a:r>
            <a:endParaRPr lang="en-US" sz="4000" dirty="0"/>
          </a:p>
        </p:txBody>
      </p:sp>
      <p:pic>
        <p:nvPicPr>
          <p:cNvPr id="18" name="Image 3" descr="/home/claude/deck/icons/arrow_coral.png"/>
          <p:cNvPicPr>
            <a:picLocks noChangeAspect="1"/>
          </p:cNvPicPr>
          <p:nvPr/>
        </p:nvPicPr>
        <p:blipFill>
          <a:blip r:embed="rId6"/>
          <a:stretch>
            <a:fillRect/>
          </a:stretch>
        </p:blipFill>
        <p:spPr>
          <a:xfrm rot="5400000">
            <a:off x="8915400" y="3246120"/>
            <a:ext cx="365760" cy="365760"/>
          </a:xfrm>
          <a:prstGeom prst="rect">
            <a:avLst/>
          </a:prstGeom>
        </p:spPr>
      </p:pic>
      <p:sp>
        <p:nvSpPr>
          <p:cNvPr id="19" name="Text 13"/>
          <p:cNvSpPr txBox="1"/>
          <p:nvPr/>
        </p:nvSpPr>
        <p:spPr>
          <a:xfrm>
            <a:off x="7178040" y="3794760"/>
            <a:ext cx="4023360" cy="274320"/>
          </a:xfrm>
          <a:prstGeom prst="rect">
            <a:avLst/>
          </a:prstGeom>
          <a:noFill/>
          <a:ln/>
        </p:spPr>
        <p:txBody>
          <a:bodyPr wrap="square" lIns="0" tIns="0" rIns="0" bIns="0" rtlCol="0" anchor="ctr"/>
          <a:lstStyle/>
          <a:p>
            <a:pPr marL="0" indent="0">
              <a:buNone/>
            </a:pPr>
            <a:r>
              <a:rPr lang="en-US" sz="1200" b="1" kern="0" spc="150" dirty="0">
                <a:solidFill>
                  <a:srgbClr val="6B7A99"/>
                </a:solidFill>
                <a:latin typeface="Calibri" pitchFamily="34" charset="0"/>
                <a:ea typeface="Calibri" pitchFamily="34" charset="-122"/>
                <a:cs typeface="Calibri" pitchFamily="34" charset="-120"/>
              </a:rPr>
              <a:t>TRUE NET CONTRIBUTION</a:t>
            </a:r>
            <a:endParaRPr lang="en-US" sz="1200" dirty="0"/>
          </a:p>
        </p:txBody>
      </p:sp>
      <p:sp>
        <p:nvSpPr>
          <p:cNvPr id="20" name="Text 14"/>
          <p:cNvSpPr txBox="1"/>
          <p:nvPr/>
        </p:nvSpPr>
        <p:spPr>
          <a:xfrm>
            <a:off x="7178040" y="4069080"/>
            <a:ext cx="4023360" cy="685800"/>
          </a:xfrm>
          <a:prstGeom prst="rect">
            <a:avLst/>
          </a:prstGeom>
          <a:noFill/>
          <a:ln/>
        </p:spPr>
        <p:txBody>
          <a:bodyPr wrap="square" lIns="0" tIns="0" rIns="0" bIns="0" rtlCol="0" anchor="ctr"/>
          <a:lstStyle/>
          <a:p>
            <a:pPr marL="0" indent="0">
              <a:buNone/>
            </a:pPr>
            <a:r>
              <a:rPr lang="en-US" sz="4000" b="1" dirty="0">
                <a:solidFill>
                  <a:srgbClr val="2EC4B6"/>
                </a:solidFill>
                <a:latin typeface="Cambria" pitchFamily="34" charset="0"/>
                <a:ea typeface="Cambria" pitchFamily="34" charset="-122"/>
                <a:cs typeface="Cambria" pitchFamily="34" charset="-120"/>
              </a:rPr>
              <a:t>$102.79M</a:t>
            </a:r>
            <a:endParaRPr lang="en-US" sz="4000" dirty="0"/>
          </a:p>
        </p:txBody>
      </p:sp>
      <p:sp>
        <p:nvSpPr>
          <p:cNvPr id="21" name="Shape 15"/>
          <p:cNvSpPr/>
          <p:nvPr/>
        </p:nvSpPr>
        <p:spPr>
          <a:xfrm>
            <a:off x="7178040" y="4892040"/>
            <a:ext cx="4069080" cy="822960"/>
          </a:xfrm>
          <a:prstGeom prst="roundRect">
            <a:avLst>
              <a:gd name="adj" fmla="val 8889"/>
            </a:avLst>
          </a:prstGeom>
          <a:solidFill>
            <a:srgbClr val="E15554"/>
          </a:solidFill>
          <a:ln/>
        </p:spPr>
      </p:sp>
      <p:sp>
        <p:nvSpPr>
          <p:cNvPr id="22" name="Text 16"/>
          <p:cNvSpPr txBox="1"/>
          <p:nvPr/>
        </p:nvSpPr>
        <p:spPr>
          <a:xfrm>
            <a:off x="7269480" y="4892040"/>
            <a:ext cx="3886200" cy="8229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20.18% LEAKAGE  —  $25.99M NEVER REACHES THE BOTTOM LINE</a:t>
            </a:r>
            <a:endParaRPr lang="en-US" sz="1300" dirty="0"/>
          </a:p>
        </p:txBody>
      </p:sp>
      <p:sp>
        <p:nvSpPr>
          <p:cNvPr id="23" name="Text 17"/>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800" kern="0" spc="100" dirty="0">
                <a:solidFill>
                  <a:srgbClr val="6B7A99"/>
                </a:solidFill>
                <a:latin typeface="Calibri" pitchFamily="34" charset="0"/>
                <a:ea typeface="Calibri" pitchFamily="34" charset="-122"/>
                <a:cs typeface="Calibri" pitchFamily="34" charset="-120"/>
              </a:rPr>
              <a:t>MARKETPLACE PROFIT LEAKAGE &amp; FULFILLMENT RISK INTELLIGENCE</a:t>
            </a:r>
            <a:endParaRPr lang="en-US" sz="800" dirty="0"/>
          </a:p>
        </p:txBody>
      </p:sp>
      <p:sp>
        <p:nvSpPr>
          <p:cNvPr id="24" name="Text 18"/>
          <p:cNvSpPr txBox="1"/>
          <p:nvPr/>
        </p:nvSpPr>
        <p:spPr>
          <a:xfrm>
            <a:off x="11277295" y="6473952"/>
            <a:ext cx="457200" cy="274320"/>
          </a:xfrm>
          <a:prstGeom prst="rect">
            <a:avLst/>
          </a:prstGeom>
          <a:noFill/>
          <a:ln/>
        </p:spPr>
        <p:txBody>
          <a:bodyPr wrap="square" lIns="0" tIns="0" rIns="0" bIns="0" rtlCol="0" anchor="ctr"/>
          <a:lstStyle/>
          <a:p>
            <a:pPr marL="0" indent="0" algn="r">
              <a:buNone/>
            </a:pPr>
            <a:r>
              <a:rPr lang="en-US" sz="800" dirty="0">
                <a:solidFill>
                  <a:srgbClr val="6B7A99"/>
                </a:solidFill>
                <a:latin typeface="Calibri" pitchFamily="34" charset="0"/>
                <a:ea typeface="Calibri" pitchFamily="34" charset="-122"/>
                <a:cs typeface="Calibri"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9144000" cy="320040"/>
          </a:xfrm>
          <a:prstGeom prst="rect">
            <a:avLst/>
          </a:prstGeom>
          <a:noFill/>
          <a:ln/>
        </p:spPr>
        <p:txBody>
          <a:bodyPr wrap="square" lIns="0" tIns="0" rIns="0" bIns="0" rtlCol="0" anchor="ctr"/>
          <a:lstStyle/>
          <a:p>
            <a:pPr marL="0" indent="0">
              <a:buNone/>
            </a:pPr>
            <a:r>
              <a:rPr lang="en-US" sz="1300" b="1" kern="0" spc="200" dirty="0">
                <a:solidFill>
                  <a:srgbClr val="E15554"/>
                </a:solidFill>
                <a:latin typeface="Calibri" pitchFamily="34" charset="0"/>
                <a:ea typeface="Calibri" pitchFamily="34" charset="-122"/>
                <a:cs typeface="Calibri" pitchFamily="34" charset="-120"/>
              </a:rPr>
              <a:t>PROJECT DIFFERENTIATION</a:t>
            </a:r>
            <a:endParaRPr lang="en-US" sz="1300" dirty="0"/>
          </a:p>
        </p:txBody>
      </p:sp>
      <p:sp>
        <p:nvSpPr>
          <p:cNvPr id="3" name="Text 1"/>
          <p:cNvSpPr txBox="1"/>
          <p:nvPr/>
        </p:nvSpPr>
        <p:spPr>
          <a:xfrm>
            <a:off x="640080" y="713232"/>
            <a:ext cx="10789920" cy="77724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Not Another “Top 10 Products” Dashboard</a:t>
            </a:r>
            <a:endParaRPr lang="en-US" sz="3200" dirty="0"/>
          </a:p>
        </p:txBody>
      </p:sp>
      <p:sp>
        <p:nvSpPr>
          <p:cNvPr id="4" name="Shape 2"/>
          <p:cNvSpPr/>
          <p:nvPr/>
        </p:nvSpPr>
        <p:spPr>
          <a:xfrm>
            <a:off x="640080" y="1965960"/>
            <a:ext cx="3520440" cy="3566160"/>
          </a:xfrm>
          <a:prstGeom prst="roundRect">
            <a:avLst>
              <a:gd name="adj" fmla="val 3117"/>
            </a:avLst>
          </a:prstGeom>
          <a:solidFill>
            <a:srgbClr val="F7F9FC"/>
          </a:solidFill>
          <a:ln/>
          <a:effectLst>
            <a:outerShdw blurRad="101600" dist="25400" dir="5400000" algn="bl" rotWithShape="0">
              <a:srgbClr val="1B2A4A">
                <a:alpha val="10000"/>
              </a:srgbClr>
            </a:outerShdw>
          </a:effectLst>
        </p:spPr>
      </p:sp>
      <p:sp>
        <p:nvSpPr>
          <p:cNvPr id="5" name="Shape 3"/>
          <p:cNvSpPr/>
          <p:nvPr/>
        </p:nvSpPr>
        <p:spPr>
          <a:xfrm>
            <a:off x="960120" y="2331720"/>
            <a:ext cx="822960" cy="822960"/>
          </a:xfrm>
          <a:prstGeom prst="ellipse">
            <a:avLst/>
          </a:prstGeom>
          <a:solidFill>
            <a:srgbClr val="1B2A4A"/>
          </a:solidFill>
          <a:ln/>
        </p:spPr>
      </p:sp>
      <p:pic>
        <p:nvPicPr>
          <p:cNvPr id="6" name="Image 0" descr="/home/claude/deck/icons/bulb_white.png"/>
          <p:cNvPicPr>
            <a:picLocks noChangeAspect="1"/>
          </p:cNvPicPr>
          <p:nvPr/>
        </p:nvPicPr>
        <p:blipFill>
          <a:blip r:embed="rId3"/>
          <a:stretch>
            <a:fillRect/>
          </a:stretch>
        </p:blipFill>
        <p:spPr>
          <a:xfrm>
            <a:off x="1075334" y="2446934"/>
            <a:ext cx="592531" cy="592531"/>
          </a:xfrm>
          <a:prstGeom prst="rect">
            <a:avLst/>
          </a:prstGeom>
        </p:spPr>
      </p:pic>
      <p:sp>
        <p:nvSpPr>
          <p:cNvPr id="7" name="Text 4"/>
          <p:cNvSpPr txBox="1"/>
          <p:nvPr/>
        </p:nvSpPr>
        <p:spPr>
          <a:xfrm>
            <a:off x="914400" y="3337560"/>
            <a:ext cx="2971800" cy="502920"/>
          </a:xfrm>
          <a:prstGeom prst="rect">
            <a:avLst/>
          </a:prstGeom>
          <a:noFill/>
          <a:ln/>
        </p:spPr>
        <p:txBody>
          <a:bodyPr wrap="square" lIns="0" tIns="0" rIns="0" bIns="0" rtlCol="0" anchor="ctr"/>
          <a:lstStyle/>
          <a:p>
            <a:pPr marL="0" indent="0">
              <a:buNone/>
            </a:pPr>
            <a:r>
              <a:rPr lang="en-US" sz="1700" b="1" dirty="0">
                <a:solidFill>
                  <a:srgbClr val="1B2A4A"/>
                </a:solidFill>
                <a:latin typeface="Cambria" pitchFamily="34" charset="0"/>
                <a:ea typeface="Cambria" pitchFamily="34" charset="-122"/>
                <a:cs typeface="Cambria" pitchFamily="34" charset="-120"/>
              </a:rPr>
              <a:t>Solves a Real Problem</a:t>
            </a:r>
            <a:endParaRPr lang="en-US" sz="1700" dirty="0"/>
          </a:p>
        </p:txBody>
      </p:sp>
      <p:sp>
        <p:nvSpPr>
          <p:cNvPr id="8" name="Text 5"/>
          <p:cNvSpPr txBox="1"/>
          <p:nvPr/>
        </p:nvSpPr>
        <p:spPr>
          <a:xfrm>
            <a:off x="914400" y="3886200"/>
            <a:ext cx="2971800" cy="1463040"/>
          </a:xfrm>
          <a:prstGeom prst="rect">
            <a:avLst/>
          </a:prstGeom>
          <a:noFill/>
          <a:ln/>
        </p:spPr>
        <p:txBody>
          <a:bodyPr wrap="square" lIns="0" tIns="0" rIns="0" bIns="0" rtlCol="0" anchor="ctr"/>
          <a:lstStyle/>
          <a:p>
            <a:pPr marL="0" indent="0">
              <a:lnSpc>
                <a:spcPct val="120000"/>
              </a:lnSpc>
              <a:buNone/>
            </a:pPr>
            <a:r>
              <a:rPr lang="en-US" sz="1250" dirty="0">
                <a:solidFill>
                  <a:srgbClr val="6B7A99"/>
                </a:solidFill>
                <a:latin typeface="Calibri" pitchFamily="34" charset="0"/>
                <a:ea typeface="Calibri" pitchFamily="34" charset="-122"/>
                <a:cs typeface="Calibri" pitchFamily="34" charset="-120"/>
              </a:rPr>
              <a:t>Quantifies a dollar amount of leaking profit — not just descriptive charts of what sold.</a:t>
            </a:r>
            <a:endParaRPr lang="en-US" sz="1250" dirty="0"/>
          </a:p>
        </p:txBody>
      </p:sp>
      <p:sp>
        <p:nvSpPr>
          <p:cNvPr id="9" name="Shape 6"/>
          <p:cNvSpPr/>
          <p:nvPr/>
        </p:nvSpPr>
        <p:spPr>
          <a:xfrm>
            <a:off x="4416552" y="1965960"/>
            <a:ext cx="3520440" cy="3566160"/>
          </a:xfrm>
          <a:prstGeom prst="roundRect">
            <a:avLst>
              <a:gd name="adj" fmla="val 3117"/>
            </a:avLst>
          </a:prstGeom>
          <a:solidFill>
            <a:srgbClr val="F7F9FC"/>
          </a:solidFill>
          <a:ln/>
          <a:effectLst>
            <a:outerShdw blurRad="101600" dist="25400" dir="5400000" algn="bl" rotWithShape="0">
              <a:srgbClr val="1B2A4A">
                <a:alpha val="10000"/>
              </a:srgbClr>
            </a:outerShdw>
          </a:effectLst>
        </p:spPr>
      </p:sp>
      <p:sp>
        <p:nvSpPr>
          <p:cNvPr id="10" name="Shape 7"/>
          <p:cNvSpPr/>
          <p:nvPr/>
        </p:nvSpPr>
        <p:spPr>
          <a:xfrm>
            <a:off x="4736592" y="2331720"/>
            <a:ext cx="822960" cy="822960"/>
          </a:xfrm>
          <a:prstGeom prst="ellipse">
            <a:avLst/>
          </a:prstGeom>
          <a:solidFill>
            <a:srgbClr val="1B2A4A"/>
          </a:solidFill>
          <a:ln/>
        </p:spPr>
      </p:sp>
      <p:pic>
        <p:nvPicPr>
          <p:cNvPr id="11" name="Image 1" descr="/home/claude/deck/icons/cogs_white.png"/>
          <p:cNvPicPr>
            <a:picLocks noChangeAspect="1"/>
          </p:cNvPicPr>
          <p:nvPr/>
        </p:nvPicPr>
        <p:blipFill>
          <a:blip r:embed="rId4"/>
          <a:stretch>
            <a:fillRect/>
          </a:stretch>
        </p:blipFill>
        <p:spPr>
          <a:xfrm>
            <a:off x="4851806" y="2446934"/>
            <a:ext cx="592531" cy="592531"/>
          </a:xfrm>
          <a:prstGeom prst="rect">
            <a:avLst/>
          </a:prstGeom>
        </p:spPr>
      </p:pic>
      <p:sp>
        <p:nvSpPr>
          <p:cNvPr id="12" name="Text 8"/>
          <p:cNvSpPr txBox="1"/>
          <p:nvPr/>
        </p:nvSpPr>
        <p:spPr>
          <a:xfrm>
            <a:off x="4690872" y="3337560"/>
            <a:ext cx="2971800" cy="502920"/>
          </a:xfrm>
          <a:prstGeom prst="rect">
            <a:avLst/>
          </a:prstGeom>
          <a:noFill/>
          <a:ln/>
        </p:spPr>
        <p:txBody>
          <a:bodyPr wrap="square" lIns="0" tIns="0" rIns="0" bIns="0" rtlCol="0" anchor="ctr"/>
          <a:lstStyle/>
          <a:p>
            <a:pPr marL="0" indent="0">
              <a:buNone/>
            </a:pPr>
            <a:r>
              <a:rPr lang="en-US" sz="1700" b="1" dirty="0">
                <a:solidFill>
                  <a:srgbClr val="1B2A4A"/>
                </a:solidFill>
                <a:latin typeface="Cambria" pitchFamily="34" charset="0"/>
                <a:ea typeface="Cambria" pitchFamily="34" charset="-122"/>
                <a:cs typeface="Cambria" pitchFamily="34" charset="-120"/>
              </a:rPr>
              <a:t>Full End-to-End Pipeline</a:t>
            </a:r>
            <a:endParaRPr lang="en-US" sz="1700" dirty="0"/>
          </a:p>
        </p:txBody>
      </p:sp>
      <p:sp>
        <p:nvSpPr>
          <p:cNvPr id="13" name="Text 9"/>
          <p:cNvSpPr txBox="1"/>
          <p:nvPr/>
        </p:nvSpPr>
        <p:spPr>
          <a:xfrm>
            <a:off x="4690872" y="3886200"/>
            <a:ext cx="2971800" cy="1463040"/>
          </a:xfrm>
          <a:prstGeom prst="rect">
            <a:avLst/>
          </a:prstGeom>
          <a:noFill/>
          <a:ln/>
        </p:spPr>
        <p:txBody>
          <a:bodyPr wrap="square" lIns="0" tIns="0" rIns="0" bIns="0" rtlCol="0" anchor="ctr"/>
          <a:lstStyle/>
          <a:p>
            <a:pPr marL="0" indent="0">
              <a:lnSpc>
                <a:spcPct val="120000"/>
              </a:lnSpc>
              <a:buNone/>
            </a:pPr>
            <a:r>
              <a:rPr lang="en-US" sz="1250" dirty="0">
                <a:solidFill>
                  <a:srgbClr val="6B7A99"/>
                </a:solidFill>
                <a:latin typeface="Calibri" pitchFamily="34" charset="0"/>
                <a:ea typeface="Calibri" pitchFamily="34" charset="-122"/>
                <a:cs typeface="Calibri" pitchFamily="34" charset="-120"/>
              </a:rPr>
              <a:t>Python for cleaning, MySQL for deep relational analysis, Power BI for the interactive layer.</a:t>
            </a:r>
            <a:endParaRPr lang="en-US" sz="1250" dirty="0"/>
          </a:p>
        </p:txBody>
      </p:sp>
      <p:sp>
        <p:nvSpPr>
          <p:cNvPr id="14" name="Shape 10"/>
          <p:cNvSpPr/>
          <p:nvPr/>
        </p:nvSpPr>
        <p:spPr>
          <a:xfrm>
            <a:off x="8193024" y="1965960"/>
            <a:ext cx="3520440" cy="3566160"/>
          </a:xfrm>
          <a:prstGeom prst="roundRect">
            <a:avLst>
              <a:gd name="adj" fmla="val 3117"/>
            </a:avLst>
          </a:prstGeom>
          <a:solidFill>
            <a:srgbClr val="F7F9FC"/>
          </a:solidFill>
          <a:ln/>
          <a:effectLst>
            <a:outerShdw blurRad="101600" dist="25400" dir="5400000" algn="bl" rotWithShape="0">
              <a:srgbClr val="1B2A4A">
                <a:alpha val="10000"/>
              </a:srgbClr>
            </a:outerShdw>
          </a:effectLst>
        </p:spPr>
      </p:sp>
      <p:sp>
        <p:nvSpPr>
          <p:cNvPr id="15" name="Shape 11"/>
          <p:cNvSpPr/>
          <p:nvPr/>
        </p:nvSpPr>
        <p:spPr>
          <a:xfrm>
            <a:off x="8513064" y="2331720"/>
            <a:ext cx="822960" cy="822960"/>
          </a:xfrm>
          <a:prstGeom prst="ellipse">
            <a:avLst/>
          </a:prstGeom>
          <a:solidFill>
            <a:srgbClr val="1B2A4A"/>
          </a:solidFill>
          <a:ln/>
        </p:spPr>
      </p:sp>
      <p:pic>
        <p:nvPicPr>
          <p:cNvPr id="16" name="Image 2" descr="/home/claude/deck/icons/flask_white.png"/>
          <p:cNvPicPr>
            <a:picLocks noChangeAspect="1"/>
          </p:cNvPicPr>
          <p:nvPr/>
        </p:nvPicPr>
        <p:blipFill>
          <a:blip r:embed="rId5"/>
          <a:stretch>
            <a:fillRect/>
          </a:stretch>
        </p:blipFill>
        <p:spPr>
          <a:xfrm>
            <a:off x="8628278" y="2446934"/>
            <a:ext cx="592531" cy="592531"/>
          </a:xfrm>
          <a:prstGeom prst="rect">
            <a:avLst/>
          </a:prstGeom>
        </p:spPr>
      </p:pic>
      <p:sp>
        <p:nvSpPr>
          <p:cNvPr id="17" name="Text 12"/>
          <p:cNvSpPr txBox="1"/>
          <p:nvPr/>
        </p:nvSpPr>
        <p:spPr>
          <a:xfrm>
            <a:off x="8467344" y="3337560"/>
            <a:ext cx="2971800" cy="502920"/>
          </a:xfrm>
          <a:prstGeom prst="rect">
            <a:avLst/>
          </a:prstGeom>
          <a:noFill/>
          <a:ln/>
        </p:spPr>
        <p:txBody>
          <a:bodyPr wrap="square" lIns="0" tIns="0" rIns="0" bIns="0" rtlCol="0" anchor="ctr"/>
          <a:lstStyle/>
          <a:p>
            <a:pPr marL="0" indent="0">
              <a:buNone/>
            </a:pPr>
            <a:r>
              <a:rPr lang="en-US" sz="1700" b="1" dirty="0">
                <a:solidFill>
                  <a:srgbClr val="1B2A4A"/>
                </a:solidFill>
                <a:latin typeface="Cambria" pitchFamily="34" charset="0"/>
                <a:ea typeface="Cambria" pitchFamily="34" charset="-122"/>
                <a:cs typeface="Cambria" pitchFamily="34" charset="-120"/>
              </a:rPr>
              <a:t>Honest, Tested Findings</a:t>
            </a:r>
            <a:endParaRPr lang="en-US" sz="1700" dirty="0"/>
          </a:p>
        </p:txBody>
      </p:sp>
      <p:sp>
        <p:nvSpPr>
          <p:cNvPr id="18" name="Text 13"/>
          <p:cNvSpPr txBox="1"/>
          <p:nvPr/>
        </p:nvSpPr>
        <p:spPr>
          <a:xfrm>
            <a:off x="8467344" y="3886200"/>
            <a:ext cx="2971800" cy="1463040"/>
          </a:xfrm>
          <a:prstGeom prst="rect">
            <a:avLst/>
          </a:prstGeom>
          <a:noFill/>
          <a:ln/>
        </p:spPr>
        <p:txBody>
          <a:bodyPr wrap="square" lIns="0" tIns="0" rIns="0" bIns="0" rtlCol="0" anchor="ctr"/>
          <a:lstStyle/>
          <a:p>
            <a:pPr marL="0" indent="0">
              <a:lnSpc>
                <a:spcPct val="120000"/>
              </a:lnSpc>
              <a:buNone/>
            </a:pPr>
            <a:r>
              <a:rPr lang="en-US" sz="1250" dirty="0">
                <a:solidFill>
                  <a:srgbClr val="6B7A99"/>
                </a:solidFill>
                <a:latin typeface="Calibri" pitchFamily="34" charset="0"/>
                <a:ea typeface="Calibri" pitchFamily="34" charset="-122"/>
                <a:cs typeface="Calibri" pitchFamily="34" charset="-120"/>
              </a:rPr>
              <a:t>Hypotheses that didn't hold up (fraud risk, payment method) are reported, not hidden.</a:t>
            </a:r>
            <a:endParaRPr lang="en-US" sz="1250" dirty="0"/>
          </a:p>
        </p:txBody>
      </p:sp>
      <p:sp>
        <p:nvSpPr>
          <p:cNvPr id="19" name="Text 14"/>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800" kern="0" spc="100" dirty="0">
                <a:solidFill>
                  <a:srgbClr val="6B7A99"/>
                </a:solidFill>
                <a:latin typeface="Calibri" pitchFamily="34" charset="0"/>
                <a:ea typeface="Calibri" pitchFamily="34" charset="-122"/>
                <a:cs typeface="Calibri" pitchFamily="34" charset="-120"/>
              </a:rPr>
              <a:t>MARKETPLACE PROFIT LEAKAGE &amp; FULFILLMENT RISK INTELLIGENCE</a:t>
            </a:r>
            <a:endParaRPr lang="en-US" sz="800" dirty="0"/>
          </a:p>
        </p:txBody>
      </p:sp>
      <p:sp>
        <p:nvSpPr>
          <p:cNvPr id="20" name="Text 15"/>
          <p:cNvSpPr txBox="1"/>
          <p:nvPr/>
        </p:nvSpPr>
        <p:spPr>
          <a:xfrm>
            <a:off x="11277295" y="6473952"/>
            <a:ext cx="457200" cy="274320"/>
          </a:xfrm>
          <a:prstGeom prst="rect">
            <a:avLst/>
          </a:prstGeom>
          <a:noFill/>
          <a:ln/>
        </p:spPr>
        <p:txBody>
          <a:bodyPr wrap="square" lIns="0" tIns="0" rIns="0" bIns="0" rtlCol="0" anchor="ctr"/>
          <a:lstStyle/>
          <a:p>
            <a:pPr marL="0" indent="0" algn="r">
              <a:buNone/>
            </a:pPr>
            <a:r>
              <a:rPr lang="en-US" sz="800" dirty="0">
                <a:solidFill>
                  <a:srgbClr val="6B7A99"/>
                </a:solidFill>
                <a:latin typeface="Calibri" pitchFamily="34" charset="0"/>
                <a:ea typeface="Calibri" pitchFamily="34" charset="-122"/>
                <a:cs typeface="Calibri"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9144000" cy="320040"/>
          </a:xfrm>
          <a:prstGeom prst="rect">
            <a:avLst/>
          </a:prstGeom>
          <a:noFill/>
          <a:ln/>
        </p:spPr>
        <p:txBody>
          <a:bodyPr wrap="square" lIns="0" tIns="0" rIns="0" bIns="0" rtlCol="0" anchor="ctr"/>
          <a:lstStyle/>
          <a:p>
            <a:pPr marL="0" indent="0">
              <a:buNone/>
            </a:pPr>
            <a:r>
              <a:rPr lang="en-US" sz="1300" b="1" kern="0" spc="200" dirty="0">
                <a:solidFill>
                  <a:srgbClr val="E15554"/>
                </a:solidFill>
                <a:latin typeface="Calibri" pitchFamily="34" charset="0"/>
                <a:ea typeface="Calibri" pitchFamily="34" charset="-122"/>
                <a:cs typeface="Calibri" pitchFamily="34" charset="-120"/>
              </a:rPr>
              <a:t>THE DATASET</a:t>
            </a:r>
            <a:endParaRPr lang="en-US" sz="1300" dirty="0"/>
          </a:p>
        </p:txBody>
      </p:sp>
      <p:sp>
        <p:nvSpPr>
          <p:cNvPr id="3" name="Text 1"/>
          <p:cNvSpPr txBox="1"/>
          <p:nvPr/>
        </p:nvSpPr>
        <p:spPr>
          <a:xfrm>
            <a:off x="640080" y="713232"/>
            <a:ext cx="10789920" cy="77724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A Genuinely Large, Recent Marketplace Dataset</a:t>
            </a:r>
            <a:endParaRPr lang="en-US" sz="3200" dirty="0"/>
          </a:p>
        </p:txBody>
      </p:sp>
      <p:sp>
        <p:nvSpPr>
          <p:cNvPr id="4" name="Shape 2"/>
          <p:cNvSpPr/>
          <p:nvPr/>
        </p:nvSpPr>
        <p:spPr>
          <a:xfrm>
            <a:off x="640080" y="1965960"/>
            <a:ext cx="2624328" cy="1554480"/>
          </a:xfrm>
          <a:prstGeom prst="roundRect">
            <a:avLst>
              <a:gd name="adj" fmla="val 5882"/>
            </a:avLst>
          </a:prstGeom>
          <a:solidFill>
            <a:srgbClr val="EAF1FB"/>
          </a:solidFill>
          <a:ln/>
          <a:effectLst>
            <a:outerShdw blurRad="76200" dist="25400" dir="5400000" algn="bl" rotWithShape="0">
              <a:srgbClr val="1B2A4A">
                <a:alpha val="12000"/>
              </a:srgbClr>
            </a:outerShdw>
          </a:effectLst>
        </p:spPr>
      </p:sp>
      <p:sp>
        <p:nvSpPr>
          <p:cNvPr id="5" name="Text 3"/>
          <p:cNvSpPr txBox="1"/>
          <p:nvPr/>
        </p:nvSpPr>
        <p:spPr>
          <a:xfrm>
            <a:off x="777240" y="2214677"/>
            <a:ext cx="2350008" cy="777240"/>
          </a:xfrm>
          <a:prstGeom prst="rect">
            <a:avLst/>
          </a:prstGeom>
          <a:noFill/>
          <a:ln/>
        </p:spPr>
        <p:txBody>
          <a:bodyPr wrap="square" lIns="0" tIns="0" rIns="0" bIns="0" rtlCol="0" anchor="ctr"/>
          <a:lstStyle/>
          <a:p>
            <a:pPr marL="0" indent="0" algn="ctr">
              <a:buNone/>
            </a:pPr>
            <a:r>
              <a:rPr lang="en-US" sz="3000" b="1" dirty="0">
                <a:solidFill>
                  <a:srgbClr val="1B2A4A"/>
                </a:solidFill>
                <a:latin typeface="Cambria" pitchFamily="34" charset="0"/>
                <a:ea typeface="Cambria" pitchFamily="34" charset="-122"/>
                <a:cs typeface="Cambria" pitchFamily="34" charset="-120"/>
              </a:rPr>
              <a:t>1,000,123</a:t>
            </a:r>
            <a:endParaRPr lang="en-US" sz="3000" dirty="0"/>
          </a:p>
        </p:txBody>
      </p:sp>
      <p:sp>
        <p:nvSpPr>
          <p:cNvPr id="6" name="Text 4"/>
          <p:cNvSpPr txBox="1"/>
          <p:nvPr/>
        </p:nvSpPr>
        <p:spPr>
          <a:xfrm>
            <a:off x="777240" y="2991917"/>
            <a:ext cx="2350008" cy="466344"/>
          </a:xfrm>
          <a:prstGeom prst="rect">
            <a:avLst/>
          </a:prstGeom>
          <a:noFill/>
          <a:ln/>
        </p:spPr>
        <p:txBody>
          <a:bodyPr wrap="square" lIns="0" tIns="0" rIns="0" bIns="0" rtlCol="0" anchor="ctr"/>
          <a:lstStyle/>
          <a:p>
            <a:pPr marL="0" indent="0" algn="ctr">
              <a:buNone/>
            </a:pPr>
            <a:r>
              <a:rPr lang="en-US" sz="1150" dirty="0">
                <a:solidFill>
                  <a:srgbClr val="6B7A99"/>
                </a:solidFill>
                <a:latin typeface="Calibri" pitchFamily="34" charset="0"/>
                <a:ea typeface="Calibri" pitchFamily="34" charset="-122"/>
                <a:cs typeface="Calibri" pitchFamily="34" charset="-120"/>
              </a:rPr>
              <a:t>Order-level rows</a:t>
            </a:r>
            <a:endParaRPr lang="en-US" sz="1150" dirty="0"/>
          </a:p>
        </p:txBody>
      </p:sp>
      <p:sp>
        <p:nvSpPr>
          <p:cNvPr id="7" name="Shape 5"/>
          <p:cNvSpPr/>
          <p:nvPr/>
        </p:nvSpPr>
        <p:spPr>
          <a:xfrm>
            <a:off x="3419856" y="1965960"/>
            <a:ext cx="2624328" cy="1554480"/>
          </a:xfrm>
          <a:prstGeom prst="roundRect">
            <a:avLst>
              <a:gd name="adj" fmla="val 5882"/>
            </a:avLst>
          </a:prstGeom>
          <a:solidFill>
            <a:srgbClr val="EAF1FB"/>
          </a:solidFill>
          <a:ln/>
          <a:effectLst>
            <a:outerShdw blurRad="76200" dist="25400" dir="5400000" algn="bl" rotWithShape="0">
              <a:srgbClr val="1B2A4A">
                <a:alpha val="12000"/>
              </a:srgbClr>
            </a:outerShdw>
          </a:effectLst>
        </p:spPr>
      </p:sp>
      <p:sp>
        <p:nvSpPr>
          <p:cNvPr id="8" name="Text 6"/>
          <p:cNvSpPr txBox="1"/>
          <p:nvPr/>
        </p:nvSpPr>
        <p:spPr>
          <a:xfrm>
            <a:off x="3557016" y="2214677"/>
            <a:ext cx="2350008" cy="777240"/>
          </a:xfrm>
          <a:prstGeom prst="rect">
            <a:avLst/>
          </a:prstGeom>
          <a:noFill/>
          <a:ln/>
        </p:spPr>
        <p:txBody>
          <a:bodyPr wrap="square" lIns="0" tIns="0" rIns="0" bIns="0" rtlCol="0" anchor="ctr"/>
          <a:lstStyle/>
          <a:p>
            <a:pPr marL="0" indent="0" algn="ctr">
              <a:buNone/>
            </a:pPr>
            <a:r>
              <a:rPr lang="en-US" sz="3000" b="1" dirty="0">
                <a:solidFill>
                  <a:srgbClr val="1B2A4A"/>
                </a:solidFill>
                <a:latin typeface="Cambria" pitchFamily="34" charset="0"/>
                <a:ea typeface="Cambria" pitchFamily="34" charset="-122"/>
                <a:cs typeface="Cambria" pitchFamily="34" charset="-120"/>
              </a:rPr>
              <a:t>62</a:t>
            </a:r>
            <a:endParaRPr lang="en-US" sz="3000" dirty="0"/>
          </a:p>
        </p:txBody>
      </p:sp>
      <p:sp>
        <p:nvSpPr>
          <p:cNvPr id="9" name="Text 7"/>
          <p:cNvSpPr txBox="1"/>
          <p:nvPr/>
        </p:nvSpPr>
        <p:spPr>
          <a:xfrm>
            <a:off x="3557016" y="2991917"/>
            <a:ext cx="2350008" cy="466344"/>
          </a:xfrm>
          <a:prstGeom prst="rect">
            <a:avLst/>
          </a:prstGeom>
          <a:noFill/>
          <a:ln/>
        </p:spPr>
        <p:txBody>
          <a:bodyPr wrap="square" lIns="0" tIns="0" rIns="0" bIns="0" rtlCol="0" anchor="ctr"/>
          <a:lstStyle/>
          <a:p>
            <a:pPr marL="0" indent="0" algn="ctr">
              <a:buNone/>
            </a:pPr>
            <a:r>
              <a:rPr lang="en-US" sz="1150" dirty="0">
                <a:solidFill>
                  <a:srgbClr val="6B7A99"/>
                </a:solidFill>
                <a:latin typeface="Calibri" pitchFamily="34" charset="0"/>
                <a:ea typeface="Calibri" pitchFamily="34" charset="-122"/>
                <a:cs typeface="Calibri" pitchFamily="34" charset="-120"/>
              </a:rPr>
              <a:t>Original data columns</a:t>
            </a:r>
            <a:endParaRPr lang="en-US" sz="1150" dirty="0"/>
          </a:p>
        </p:txBody>
      </p:sp>
      <p:sp>
        <p:nvSpPr>
          <p:cNvPr id="10" name="Shape 8"/>
          <p:cNvSpPr/>
          <p:nvPr/>
        </p:nvSpPr>
        <p:spPr>
          <a:xfrm>
            <a:off x="6199632" y="1965960"/>
            <a:ext cx="2624328" cy="1554480"/>
          </a:xfrm>
          <a:prstGeom prst="roundRect">
            <a:avLst>
              <a:gd name="adj" fmla="val 5882"/>
            </a:avLst>
          </a:prstGeom>
          <a:solidFill>
            <a:srgbClr val="EAF1FB"/>
          </a:solidFill>
          <a:ln/>
          <a:effectLst>
            <a:outerShdw blurRad="76200" dist="25400" dir="5400000" algn="bl" rotWithShape="0">
              <a:srgbClr val="1B2A4A">
                <a:alpha val="12000"/>
              </a:srgbClr>
            </a:outerShdw>
          </a:effectLst>
        </p:spPr>
      </p:sp>
      <p:sp>
        <p:nvSpPr>
          <p:cNvPr id="11" name="Text 9"/>
          <p:cNvSpPr txBox="1"/>
          <p:nvPr/>
        </p:nvSpPr>
        <p:spPr>
          <a:xfrm>
            <a:off x="6336792" y="2214677"/>
            <a:ext cx="2350008" cy="777240"/>
          </a:xfrm>
          <a:prstGeom prst="rect">
            <a:avLst/>
          </a:prstGeom>
          <a:noFill/>
          <a:ln/>
        </p:spPr>
        <p:txBody>
          <a:bodyPr wrap="square" lIns="0" tIns="0" rIns="0" bIns="0" rtlCol="0" anchor="ctr"/>
          <a:lstStyle/>
          <a:p>
            <a:pPr marL="0" indent="0" algn="ctr">
              <a:buNone/>
            </a:pPr>
            <a:r>
              <a:rPr lang="en-US" sz="3000" b="1" dirty="0">
                <a:solidFill>
                  <a:srgbClr val="1B2A4A"/>
                </a:solidFill>
                <a:latin typeface="Cambria" pitchFamily="34" charset="0"/>
                <a:ea typeface="Cambria" pitchFamily="34" charset="-122"/>
                <a:cs typeface="Cambria" pitchFamily="34" charset="-120"/>
              </a:rPr>
              <a:t>2024–2026</a:t>
            </a:r>
            <a:endParaRPr lang="en-US" sz="3000" dirty="0"/>
          </a:p>
        </p:txBody>
      </p:sp>
      <p:sp>
        <p:nvSpPr>
          <p:cNvPr id="12" name="Text 10"/>
          <p:cNvSpPr txBox="1"/>
          <p:nvPr/>
        </p:nvSpPr>
        <p:spPr>
          <a:xfrm>
            <a:off x="6336792" y="2991917"/>
            <a:ext cx="2350008" cy="466344"/>
          </a:xfrm>
          <a:prstGeom prst="rect">
            <a:avLst/>
          </a:prstGeom>
          <a:noFill/>
          <a:ln/>
        </p:spPr>
        <p:txBody>
          <a:bodyPr wrap="square" lIns="0" tIns="0" rIns="0" bIns="0" rtlCol="0" anchor="ctr"/>
          <a:lstStyle/>
          <a:p>
            <a:pPr marL="0" indent="0" algn="ctr">
              <a:buNone/>
            </a:pPr>
            <a:r>
              <a:rPr lang="en-US" sz="1150" dirty="0">
                <a:solidFill>
                  <a:srgbClr val="6B7A99"/>
                </a:solidFill>
                <a:latin typeface="Calibri" pitchFamily="34" charset="0"/>
                <a:ea typeface="Calibri" pitchFamily="34" charset="-122"/>
                <a:cs typeface="Calibri" pitchFamily="34" charset="-120"/>
              </a:rPr>
              <a:t>Order date range</a:t>
            </a:r>
            <a:endParaRPr lang="en-US" sz="1150" dirty="0"/>
          </a:p>
        </p:txBody>
      </p:sp>
      <p:sp>
        <p:nvSpPr>
          <p:cNvPr id="13" name="Shape 11"/>
          <p:cNvSpPr/>
          <p:nvPr/>
        </p:nvSpPr>
        <p:spPr>
          <a:xfrm>
            <a:off x="8979408" y="1965960"/>
            <a:ext cx="2624328" cy="1554480"/>
          </a:xfrm>
          <a:prstGeom prst="roundRect">
            <a:avLst>
              <a:gd name="adj" fmla="val 5882"/>
            </a:avLst>
          </a:prstGeom>
          <a:solidFill>
            <a:srgbClr val="EAF1FB"/>
          </a:solidFill>
          <a:ln/>
          <a:effectLst>
            <a:outerShdw blurRad="76200" dist="25400" dir="5400000" algn="bl" rotWithShape="0">
              <a:srgbClr val="1B2A4A">
                <a:alpha val="12000"/>
              </a:srgbClr>
            </a:outerShdw>
          </a:effectLst>
        </p:spPr>
      </p:sp>
      <p:sp>
        <p:nvSpPr>
          <p:cNvPr id="14" name="Text 12"/>
          <p:cNvSpPr txBox="1"/>
          <p:nvPr/>
        </p:nvSpPr>
        <p:spPr>
          <a:xfrm>
            <a:off x="9116568" y="2214677"/>
            <a:ext cx="2350008" cy="777240"/>
          </a:xfrm>
          <a:prstGeom prst="rect">
            <a:avLst/>
          </a:prstGeom>
          <a:noFill/>
          <a:ln/>
        </p:spPr>
        <p:txBody>
          <a:bodyPr wrap="square" lIns="0" tIns="0" rIns="0" bIns="0" rtlCol="0" anchor="ctr"/>
          <a:lstStyle/>
          <a:p>
            <a:pPr marL="0" indent="0" algn="ctr">
              <a:buNone/>
            </a:pPr>
            <a:r>
              <a:rPr lang="en-US" sz="3000" b="1" dirty="0">
                <a:solidFill>
                  <a:srgbClr val="1B2A4A"/>
                </a:solidFill>
                <a:latin typeface="Cambria" pitchFamily="34" charset="0"/>
                <a:ea typeface="Cambria" pitchFamily="34" charset="-122"/>
                <a:cs typeface="Cambria" pitchFamily="34" charset="-120"/>
              </a:rPr>
              <a:t>100%</a:t>
            </a:r>
            <a:endParaRPr lang="en-US" sz="3000" dirty="0"/>
          </a:p>
        </p:txBody>
      </p:sp>
      <p:sp>
        <p:nvSpPr>
          <p:cNvPr id="15" name="Text 13"/>
          <p:cNvSpPr txBox="1"/>
          <p:nvPr/>
        </p:nvSpPr>
        <p:spPr>
          <a:xfrm>
            <a:off x="9116568" y="2991917"/>
            <a:ext cx="2350008" cy="466344"/>
          </a:xfrm>
          <a:prstGeom prst="rect">
            <a:avLst/>
          </a:prstGeom>
          <a:noFill/>
          <a:ln/>
        </p:spPr>
        <p:txBody>
          <a:bodyPr wrap="square" lIns="0" tIns="0" rIns="0" bIns="0" rtlCol="0" anchor="ctr"/>
          <a:lstStyle/>
          <a:p>
            <a:pPr marL="0" indent="0" algn="ctr">
              <a:buNone/>
            </a:pPr>
            <a:r>
              <a:rPr lang="en-US" sz="1150" dirty="0">
                <a:solidFill>
                  <a:srgbClr val="6B7A99"/>
                </a:solidFill>
                <a:latin typeface="Calibri" pitchFamily="34" charset="0"/>
                <a:ea typeface="Calibri" pitchFamily="34" charset="-122"/>
                <a:cs typeface="Calibri" pitchFamily="34" charset="-120"/>
              </a:rPr>
              <a:t>Financial columns validated</a:t>
            </a:r>
            <a:endParaRPr lang="en-US" sz="1150" dirty="0"/>
          </a:p>
        </p:txBody>
      </p:sp>
      <p:sp>
        <p:nvSpPr>
          <p:cNvPr id="16" name="Text 14"/>
          <p:cNvSpPr txBox="1"/>
          <p:nvPr/>
        </p:nvSpPr>
        <p:spPr>
          <a:xfrm>
            <a:off x="640080" y="3794760"/>
            <a:ext cx="7315200" cy="365760"/>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Global E-Commerce Dataset (+1M Records, 2024–2026) — Kaggle</a:t>
            </a:r>
            <a:endParaRPr lang="en-US" sz="1600" dirty="0"/>
          </a:p>
        </p:txBody>
      </p:sp>
      <p:sp>
        <p:nvSpPr>
          <p:cNvPr id="17" name="Text 15"/>
          <p:cNvSpPr txBox="1"/>
          <p:nvPr/>
        </p:nvSpPr>
        <p:spPr>
          <a:xfrm>
            <a:off x="640080" y="4206240"/>
            <a:ext cx="7315200" cy="457200"/>
          </a:xfrm>
          <a:prstGeom prst="rect">
            <a:avLst/>
          </a:prstGeom>
          <a:noFill/>
          <a:ln/>
        </p:spPr>
        <p:txBody>
          <a:bodyPr wrap="square" lIns="0" tIns="0" rIns="0" bIns="0" rtlCol="0" anchor="ctr"/>
          <a:lstStyle/>
          <a:p>
            <a:pPr marL="0" indent="0">
              <a:buNone/>
            </a:pPr>
            <a:r>
              <a:rPr lang="en-US" sz="1300" i="1" dirty="0">
                <a:solidFill>
                  <a:srgbClr val="6B7A99"/>
                </a:solidFill>
                <a:latin typeface="Calibri" pitchFamily="34" charset="0"/>
                <a:ea typeface="Calibri" pitchFamily="34" charset="-122"/>
                <a:cs typeface="Calibri" pitchFamily="34" charset="-120"/>
              </a:rPr>
              <a:t>Chosen deliberately over well-worn datasets (Olist, UK Retail) so the analysis itself — not the data source — is the differentiator.</a:t>
            </a:r>
            <a:endParaRPr lang="en-US" sz="1300" dirty="0"/>
          </a:p>
        </p:txBody>
      </p:sp>
      <p:sp>
        <p:nvSpPr>
          <p:cNvPr id="18" name="Shape 16"/>
          <p:cNvSpPr/>
          <p:nvPr/>
        </p:nvSpPr>
        <p:spPr>
          <a:xfrm>
            <a:off x="640080" y="4892040"/>
            <a:ext cx="10881360" cy="1051560"/>
          </a:xfrm>
          <a:prstGeom prst="roundRect">
            <a:avLst>
              <a:gd name="adj" fmla="val 8696"/>
            </a:avLst>
          </a:prstGeom>
          <a:solidFill>
            <a:srgbClr val="1B2A4A"/>
          </a:solidFill>
          <a:ln/>
        </p:spPr>
      </p:sp>
      <p:pic>
        <p:nvPicPr>
          <p:cNvPr id="19" name="Image 0" descr="/home/claude/deck/icons/check_teal.png"/>
          <p:cNvPicPr>
            <a:picLocks noChangeAspect="1"/>
          </p:cNvPicPr>
          <p:nvPr/>
        </p:nvPicPr>
        <p:blipFill>
          <a:blip r:embed="rId3"/>
          <a:stretch>
            <a:fillRect/>
          </a:stretch>
        </p:blipFill>
        <p:spPr>
          <a:xfrm>
            <a:off x="914400" y="5193792"/>
            <a:ext cx="457200" cy="457200"/>
          </a:xfrm>
          <a:prstGeom prst="rect">
            <a:avLst/>
          </a:prstGeom>
        </p:spPr>
      </p:pic>
      <p:sp>
        <p:nvSpPr>
          <p:cNvPr id="20" name="Text 17"/>
          <p:cNvSpPr txBox="1"/>
          <p:nvPr/>
        </p:nvSpPr>
        <p:spPr>
          <a:xfrm>
            <a:off x="1508760" y="4983480"/>
            <a:ext cx="9784080" cy="822960"/>
          </a:xfrm>
          <a:prstGeom prst="rect">
            <a:avLst/>
          </a:prstGeom>
          <a:noFill/>
          <a:ln/>
        </p:spPr>
        <p:txBody>
          <a:bodyPr wrap="square" lIns="0" tIns="0" rIns="0" bIns="0" rtlCol="0" anchor="ctr"/>
          <a:lstStyle/>
          <a:p>
            <a:pPr marL="0" indent="0">
              <a:lnSpc>
                <a:spcPct val="115000"/>
              </a:lnSpc>
              <a:buNone/>
            </a:pPr>
            <a:r>
              <a:rPr lang="en-US" sz="1250" dirty="0">
                <a:solidFill>
                  <a:srgbClr val="FFFFFF"/>
                </a:solidFill>
                <a:latin typeface="Calibri" pitchFamily="34" charset="0"/>
                <a:ea typeface="Calibri" pitchFamily="34" charset="-122"/>
                <a:cs typeface="Calibri" pitchFamily="34" charset="-120"/>
              </a:rPr>
              <a:t>Scope decision: financial analysis is restricted to “finalized” orders (Completed + Returned) — Cancelled, Pending, and Processing orders never generated real revenue, and were excluded from every dollar figure in this project.</a:t>
            </a:r>
            <a:endParaRPr lang="en-US" sz="1250" dirty="0"/>
          </a:p>
        </p:txBody>
      </p:sp>
      <p:sp>
        <p:nvSpPr>
          <p:cNvPr id="21" name="Text 18"/>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800" kern="0" spc="100" dirty="0">
                <a:solidFill>
                  <a:srgbClr val="6B7A99"/>
                </a:solidFill>
                <a:latin typeface="Calibri" pitchFamily="34" charset="0"/>
                <a:ea typeface="Calibri" pitchFamily="34" charset="-122"/>
                <a:cs typeface="Calibri" pitchFamily="34" charset="-120"/>
              </a:rPr>
              <a:t>MARKETPLACE PROFIT LEAKAGE &amp; FULFILLMENT RISK INTELLIGENCE</a:t>
            </a:r>
            <a:endParaRPr lang="en-US" sz="800" dirty="0"/>
          </a:p>
        </p:txBody>
      </p:sp>
      <p:sp>
        <p:nvSpPr>
          <p:cNvPr id="22" name="Text 19"/>
          <p:cNvSpPr txBox="1"/>
          <p:nvPr/>
        </p:nvSpPr>
        <p:spPr>
          <a:xfrm>
            <a:off x="11277295" y="6473952"/>
            <a:ext cx="457200" cy="274320"/>
          </a:xfrm>
          <a:prstGeom prst="rect">
            <a:avLst/>
          </a:prstGeom>
          <a:noFill/>
          <a:ln/>
        </p:spPr>
        <p:txBody>
          <a:bodyPr wrap="square" lIns="0" tIns="0" rIns="0" bIns="0" rtlCol="0" anchor="ctr"/>
          <a:lstStyle/>
          <a:p>
            <a:pPr marL="0" indent="0" algn="r">
              <a:buNone/>
            </a:pPr>
            <a:r>
              <a:rPr lang="en-US" sz="800" dirty="0">
                <a:solidFill>
                  <a:srgbClr val="6B7A99"/>
                </a:solidFill>
                <a:latin typeface="Calibri" pitchFamily="34" charset="0"/>
                <a:ea typeface="Calibri" pitchFamily="34" charset="-122"/>
                <a:cs typeface="Calibri"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2A4A"/>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9144000" cy="320040"/>
          </a:xfrm>
          <a:prstGeom prst="rect">
            <a:avLst/>
          </a:prstGeom>
          <a:noFill/>
          <a:ln/>
        </p:spPr>
        <p:txBody>
          <a:bodyPr wrap="square" lIns="0" tIns="0" rIns="0" bIns="0" rtlCol="0" anchor="ctr"/>
          <a:lstStyle/>
          <a:p>
            <a:pPr marL="0" indent="0">
              <a:buNone/>
            </a:pPr>
            <a:r>
              <a:rPr lang="en-US" sz="1300" b="1" kern="0" spc="200" dirty="0">
                <a:solidFill>
                  <a:srgbClr val="2EC4B6"/>
                </a:solidFill>
                <a:latin typeface="Calibri" pitchFamily="34" charset="0"/>
                <a:ea typeface="Calibri" pitchFamily="34" charset="-122"/>
                <a:cs typeface="Calibri" pitchFamily="34" charset="-120"/>
              </a:rPr>
              <a:t>THE APPROACH</a:t>
            </a:r>
            <a:endParaRPr lang="en-US" sz="1300" dirty="0"/>
          </a:p>
        </p:txBody>
      </p:sp>
      <p:sp>
        <p:nvSpPr>
          <p:cNvPr id="3" name="Text 1"/>
          <p:cNvSpPr txBox="1"/>
          <p:nvPr/>
        </p:nvSpPr>
        <p:spPr>
          <a:xfrm>
            <a:off x="640080" y="713232"/>
            <a:ext cx="10789920" cy="77724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One Pipeline, Three Tools, Each Doing What It Does Best</a:t>
            </a:r>
            <a:endParaRPr lang="en-US" sz="3200" dirty="0"/>
          </a:p>
        </p:txBody>
      </p:sp>
      <p:sp>
        <p:nvSpPr>
          <p:cNvPr id="4" name="Shape 2"/>
          <p:cNvSpPr/>
          <p:nvPr/>
        </p:nvSpPr>
        <p:spPr>
          <a:xfrm>
            <a:off x="1897380" y="1965960"/>
            <a:ext cx="1005840" cy="1005840"/>
          </a:xfrm>
          <a:prstGeom prst="ellipse">
            <a:avLst/>
          </a:prstGeom>
          <a:solidFill>
            <a:srgbClr val="2EC4B6"/>
          </a:solidFill>
          <a:ln/>
        </p:spPr>
      </p:sp>
      <p:pic>
        <p:nvPicPr>
          <p:cNvPr id="5" name="Image 0" descr="/home/claude/deck/icons/code_navy.png"/>
          <p:cNvPicPr>
            <a:picLocks noChangeAspect="1"/>
          </p:cNvPicPr>
          <p:nvPr/>
        </p:nvPicPr>
        <p:blipFill>
          <a:blip r:embed="rId3"/>
          <a:stretch>
            <a:fillRect/>
          </a:stretch>
        </p:blipFill>
        <p:spPr>
          <a:xfrm>
            <a:off x="2038198" y="2106778"/>
            <a:ext cx="724205" cy="724205"/>
          </a:xfrm>
          <a:prstGeom prst="rect">
            <a:avLst/>
          </a:prstGeom>
        </p:spPr>
      </p:pic>
      <p:sp>
        <p:nvSpPr>
          <p:cNvPr id="6" name="Text 3"/>
          <p:cNvSpPr txBox="1"/>
          <p:nvPr/>
        </p:nvSpPr>
        <p:spPr>
          <a:xfrm>
            <a:off x="777240" y="3154680"/>
            <a:ext cx="3246120" cy="274320"/>
          </a:xfrm>
          <a:prstGeom prst="rect">
            <a:avLst/>
          </a:prstGeom>
          <a:noFill/>
          <a:ln/>
        </p:spPr>
        <p:txBody>
          <a:bodyPr wrap="square" lIns="0" tIns="0" rIns="0" bIns="0" rtlCol="0" anchor="ctr"/>
          <a:lstStyle/>
          <a:p>
            <a:pPr marL="0" indent="0" algn="ctr">
              <a:buNone/>
            </a:pPr>
            <a:r>
              <a:rPr lang="en-US" sz="1150" b="1" kern="0" spc="200" dirty="0">
                <a:solidFill>
                  <a:srgbClr val="2EC4B6"/>
                </a:solidFill>
                <a:latin typeface="Calibri" pitchFamily="34" charset="0"/>
                <a:ea typeface="Calibri" pitchFamily="34" charset="-122"/>
                <a:cs typeface="Calibri" pitchFamily="34" charset="-120"/>
              </a:rPr>
              <a:t>PYTHON</a:t>
            </a:r>
            <a:endParaRPr lang="en-US" sz="1150" dirty="0"/>
          </a:p>
        </p:txBody>
      </p:sp>
      <p:sp>
        <p:nvSpPr>
          <p:cNvPr id="7" name="Text 4"/>
          <p:cNvSpPr txBox="1"/>
          <p:nvPr/>
        </p:nvSpPr>
        <p:spPr>
          <a:xfrm>
            <a:off x="777240" y="3456432"/>
            <a:ext cx="324612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Clean &amp; Engineer</a:t>
            </a:r>
            <a:endParaRPr lang="en-US" sz="1800" dirty="0"/>
          </a:p>
        </p:txBody>
      </p:sp>
      <p:sp>
        <p:nvSpPr>
          <p:cNvPr id="8" name="Text 5"/>
          <p:cNvSpPr txBox="1"/>
          <p:nvPr/>
        </p:nvSpPr>
        <p:spPr>
          <a:xfrm>
            <a:off x="914400" y="3977640"/>
            <a:ext cx="2971800" cy="1188720"/>
          </a:xfrm>
          <a:prstGeom prst="rect">
            <a:avLst/>
          </a:prstGeom>
          <a:noFill/>
          <a:ln/>
        </p:spPr>
        <p:txBody>
          <a:bodyPr wrap="square" lIns="0" tIns="0" rIns="0" bIns="0" rtlCol="0" anchor="ctr"/>
          <a:lstStyle/>
          <a:p>
            <a:pPr marL="0" indent="0" algn="ctr">
              <a:lnSpc>
                <a:spcPct val="120000"/>
              </a:lnSpc>
              <a:buNone/>
            </a:pPr>
            <a:r>
              <a:rPr lang="en-US" sz="1200" dirty="0">
                <a:solidFill>
                  <a:srgbClr val="C7D3E8"/>
                </a:solidFill>
                <a:latin typeface="Calibri" pitchFamily="34" charset="0"/>
                <a:ea typeface="Calibri" pitchFamily="34" charset="-122"/>
                <a:cs typeface="Calibri" pitchFamily="34" charset="-120"/>
              </a:rPr>
              <a:t>Data quality audit, business-logic cleaning, and the core profit-leakage calculation</a:t>
            </a:r>
            <a:endParaRPr lang="en-US" sz="1200" dirty="0"/>
          </a:p>
        </p:txBody>
      </p:sp>
      <p:pic>
        <p:nvPicPr>
          <p:cNvPr id="9" name="Image 1" descr="/home/claude/deck/icons/arrow_teal.png"/>
          <p:cNvPicPr>
            <a:picLocks noChangeAspect="1"/>
          </p:cNvPicPr>
          <p:nvPr/>
        </p:nvPicPr>
        <p:blipFill>
          <a:blip r:embed="rId4"/>
          <a:stretch>
            <a:fillRect/>
          </a:stretch>
        </p:blipFill>
        <p:spPr>
          <a:xfrm>
            <a:off x="4069080" y="2286000"/>
            <a:ext cx="365760" cy="365760"/>
          </a:xfrm>
          <a:prstGeom prst="rect">
            <a:avLst/>
          </a:prstGeom>
        </p:spPr>
      </p:pic>
      <p:sp>
        <p:nvSpPr>
          <p:cNvPr id="10" name="Shape 6"/>
          <p:cNvSpPr/>
          <p:nvPr/>
        </p:nvSpPr>
        <p:spPr>
          <a:xfrm>
            <a:off x="5463540" y="1965960"/>
            <a:ext cx="1005840" cy="1005840"/>
          </a:xfrm>
          <a:prstGeom prst="ellipse">
            <a:avLst/>
          </a:prstGeom>
          <a:solidFill>
            <a:srgbClr val="2EC4B6"/>
          </a:solidFill>
          <a:ln/>
        </p:spPr>
      </p:sp>
      <p:pic>
        <p:nvPicPr>
          <p:cNvPr id="11" name="Image 2" descr="/home/claude/deck/icons/database_navy.png"/>
          <p:cNvPicPr>
            <a:picLocks noChangeAspect="1"/>
          </p:cNvPicPr>
          <p:nvPr/>
        </p:nvPicPr>
        <p:blipFill>
          <a:blip r:embed="rId5"/>
          <a:stretch>
            <a:fillRect/>
          </a:stretch>
        </p:blipFill>
        <p:spPr>
          <a:xfrm>
            <a:off x="5604358" y="2106778"/>
            <a:ext cx="724205" cy="724205"/>
          </a:xfrm>
          <a:prstGeom prst="rect">
            <a:avLst/>
          </a:prstGeom>
        </p:spPr>
      </p:pic>
      <p:sp>
        <p:nvSpPr>
          <p:cNvPr id="12" name="Text 7"/>
          <p:cNvSpPr txBox="1"/>
          <p:nvPr/>
        </p:nvSpPr>
        <p:spPr>
          <a:xfrm>
            <a:off x="4343400" y="3154680"/>
            <a:ext cx="3246120" cy="274320"/>
          </a:xfrm>
          <a:prstGeom prst="rect">
            <a:avLst/>
          </a:prstGeom>
          <a:noFill/>
          <a:ln/>
        </p:spPr>
        <p:txBody>
          <a:bodyPr wrap="square" lIns="0" tIns="0" rIns="0" bIns="0" rtlCol="0" anchor="ctr"/>
          <a:lstStyle/>
          <a:p>
            <a:pPr marL="0" indent="0" algn="ctr">
              <a:buNone/>
            </a:pPr>
            <a:r>
              <a:rPr lang="en-US" sz="1150" b="1" kern="0" spc="200" dirty="0">
                <a:solidFill>
                  <a:srgbClr val="2EC4B6"/>
                </a:solidFill>
                <a:latin typeface="Calibri" pitchFamily="34" charset="0"/>
                <a:ea typeface="Calibri" pitchFamily="34" charset="-122"/>
                <a:cs typeface="Calibri" pitchFamily="34" charset="-120"/>
              </a:rPr>
              <a:t>MYSQL</a:t>
            </a:r>
            <a:endParaRPr lang="en-US" sz="1150" dirty="0"/>
          </a:p>
        </p:txBody>
      </p:sp>
      <p:sp>
        <p:nvSpPr>
          <p:cNvPr id="13" name="Text 8"/>
          <p:cNvSpPr txBox="1"/>
          <p:nvPr/>
        </p:nvSpPr>
        <p:spPr>
          <a:xfrm>
            <a:off x="4343400" y="3456432"/>
            <a:ext cx="324612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Deep Relational Analysis</a:t>
            </a:r>
            <a:endParaRPr lang="en-US" sz="1800" dirty="0"/>
          </a:p>
        </p:txBody>
      </p:sp>
      <p:sp>
        <p:nvSpPr>
          <p:cNvPr id="14" name="Text 9"/>
          <p:cNvSpPr txBox="1"/>
          <p:nvPr/>
        </p:nvSpPr>
        <p:spPr>
          <a:xfrm>
            <a:off x="4480560" y="3977640"/>
            <a:ext cx="2971800" cy="1188720"/>
          </a:xfrm>
          <a:prstGeom prst="rect">
            <a:avLst/>
          </a:prstGeom>
          <a:noFill/>
          <a:ln/>
        </p:spPr>
        <p:txBody>
          <a:bodyPr wrap="square" lIns="0" tIns="0" rIns="0" bIns="0" rtlCol="0" anchor="ctr"/>
          <a:lstStyle/>
          <a:p>
            <a:pPr marL="0" indent="0" algn="ctr">
              <a:lnSpc>
                <a:spcPct val="120000"/>
              </a:lnSpc>
              <a:buNone/>
            </a:pPr>
            <a:r>
              <a:rPr lang="en-US" sz="1200" dirty="0">
                <a:solidFill>
                  <a:srgbClr val="C7D3E8"/>
                </a:solidFill>
                <a:latin typeface="Calibri" pitchFamily="34" charset="0"/>
                <a:ea typeface="Calibri" pitchFamily="34" charset="-122"/>
                <a:cs typeface="Calibri" pitchFamily="34" charset="-120"/>
              </a:rPr>
              <a:t>18 queries across 6 business themes — window functions, CTEs, RFM, cohorts</a:t>
            </a:r>
            <a:endParaRPr lang="en-US" sz="1200" dirty="0"/>
          </a:p>
        </p:txBody>
      </p:sp>
      <p:pic>
        <p:nvPicPr>
          <p:cNvPr id="15" name="Image 3" descr="/home/claude/deck/icons/arrow_teal.png"/>
          <p:cNvPicPr>
            <a:picLocks noChangeAspect="1"/>
          </p:cNvPicPr>
          <p:nvPr/>
        </p:nvPicPr>
        <p:blipFill>
          <a:blip r:embed="rId4"/>
          <a:stretch>
            <a:fillRect/>
          </a:stretch>
        </p:blipFill>
        <p:spPr>
          <a:xfrm>
            <a:off x="7635240" y="2286000"/>
            <a:ext cx="365760" cy="365760"/>
          </a:xfrm>
          <a:prstGeom prst="rect">
            <a:avLst/>
          </a:prstGeom>
        </p:spPr>
      </p:pic>
      <p:sp>
        <p:nvSpPr>
          <p:cNvPr id="16" name="Shape 10"/>
          <p:cNvSpPr/>
          <p:nvPr/>
        </p:nvSpPr>
        <p:spPr>
          <a:xfrm>
            <a:off x="9029700" y="1965960"/>
            <a:ext cx="1005840" cy="1005840"/>
          </a:xfrm>
          <a:prstGeom prst="ellipse">
            <a:avLst/>
          </a:prstGeom>
          <a:solidFill>
            <a:srgbClr val="2EC4B6"/>
          </a:solidFill>
          <a:ln/>
        </p:spPr>
      </p:sp>
      <p:pic>
        <p:nvPicPr>
          <p:cNvPr id="17" name="Image 4" descr="/home/claude/deck/icons/chartbar_navy.png"/>
          <p:cNvPicPr>
            <a:picLocks noChangeAspect="1"/>
          </p:cNvPicPr>
          <p:nvPr/>
        </p:nvPicPr>
        <p:blipFill>
          <a:blip r:embed="rId6"/>
          <a:stretch>
            <a:fillRect/>
          </a:stretch>
        </p:blipFill>
        <p:spPr>
          <a:xfrm>
            <a:off x="9170518" y="2106778"/>
            <a:ext cx="724205" cy="724205"/>
          </a:xfrm>
          <a:prstGeom prst="rect">
            <a:avLst/>
          </a:prstGeom>
        </p:spPr>
      </p:pic>
      <p:sp>
        <p:nvSpPr>
          <p:cNvPr id="18" name="Text 11"/>
          <p:cNvSpPr txBox="1"/>
          <p:nvPr/>
        </p:nvSpPr>
        <p:spPr>
          <a:xfrm>
            <a:off x="7909560" y="3154680"/>
            <a:ext cx="3246120" cy="274320"/>
          </a:xfrm>
          <a:prstGeom prst="rect">
            <a:avLst/>
          </a:prstGeom>
          <a:noFill/>
          <a:ln/>
        </p:spPr>
        <p:txBody>
          <a:bodyPr wrap="square" lIns="0" tIns="0" rIns="0" bIns="0" rtlCol="0" anchor="ctr"/>
          <a:lstStyle/>
          <a:p>
            <a:pPr marL="0" indent="0" algn="ctr">
              <a:buNone/>
            </a:pPr>
            <a:r>
              <a:rPr lang="en-US" sz="1150" b="1" kern="0" spc="200" dirty="0">
                <a:solidFill>
                  <a:srgbClr val="2EC4B6"/>
                </a:solidFill>
                <a:latin typeface="Calibri" pitchFamily="34" charset="0"/>
                <a:ea typeface="Calibri" pitchFamily="34" charset="-122"/>
                <a:cs typeface="Calibri" pitchFamily="34" charset="-120"/>
              </a:rPr>
              <a:t>POWER BI</a:t>
            </a:r>
            <a:endParaRPr lang="en-US" sz="1150" dirty="0"/>
          </a:p>
        </p:txBody>
      </p:sp>
      <p:sp>
        <p:nvSpPr>
          <p:cNvPr id="19" name="Text 12"/>
          <p:cNvSpPr txBox="1"/>
          <p:nvPr/>
        </p:nvSpPr>
        <p:spPr>
          <a:xfrm>
            <a:off x="7909560" y="3456432"/>
            <a:ext cx="324612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Interactive Dashboard</a:t>
            </a:r>
            <a:endParaRPr lang="en-US" sz="1800" dirty="0"/>
          </a:p>
        </p:txBody>
      </p:sp>
      <p:sp>
        <p:nvSpPr>
          <p:cNvPr id="20" name="Text 13"/>
          <p:cNvSpPr txBox="1"/>
          <p:nvPr/>
        </p:nvSpPr>
        <p:spPr>
          <a:xfrm>
            <a:off x="8046720" y="3977640"/>
            <a:ext cx="2971800" cy="1188720"/>
          </a:xfrm>
          <a:prstGeom prst="rect">
            <a:avLst/>
          </a:prstGeom>
          <a:noFill/>
          <a:ln/>
        </p:spPr>
        <p:txBody>
          <a:bodyPr wrap="square" lIns="0" tIns="0" rIns="0" bIns="0" rtlCol="0" anchor="ctr"/>
          <a:lstStyle/>
          <a:p>
            <a:pPr marL="0" indent="0" algn="ctr">
              <a:lnSpc>
                <a:spcPct val="120000"/>
              </a:lnSpc>
              <a:buNone/>
            </a:pPr>
            <a:r>
              <a:rPr lang="en-US" sz="1200" dirty="0">
                <a:solidFill>
                  <a:srgbClr val="C7D3E8"/>
                </a:solidFill>
                <a:latin typeface="Calibri" pitchFamily="34" charset="0"/>
                <a:ea typeface="Calibri" pitchFamily="34" charset="-122"/>
                <a:cs typeface="Calibri" pitchFamily="34" charset="-120"/>
              </a:rPr>
              <a:t>A focused 2-page decision-support tool with synced, clickable filters</a:t>
            </a:r>
            <a:endParaRPr lang="en-US" sz="1200" dirty="0"/>
          </a:p>
        </p:txBody>
      </p:sp>
      <p:sp>
        <p:nvSpPr>
          <p:cNvPr id="21" name="Text 14"/>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800" kern="0" spc="100" dirty="0">
                <a:solidFill>
                  <a:srgbClr val="8896B3"/>
                </a:solidFill>
                <a:latin typeface="Calibri" pitchFamily="34" charset="0"/>
                <a:ea typeface="Calibri" pitchFamily="34" charset="-122"/>
                <a:cs typeface="Calibri" pitchFamily="34" charset="-120"/>
              </a:rPr>
              <a:t>MARKETPLACE PROFIT LEAKAGE &amp; FULFILLMENT RISK INTELLIGENCE</a:t>
            </a:r>
            <a:endParaRPr lang="en-US" sz="800" dirty="0"/>
          </a:p>
        </p:txBody>
      </p:sp>
      <p:sp>
        <p:nvSpPr>
          <p:cNvPr id="22" name="Text 15"/>
          <p:cNvSpPr txBox="1"/>
          <p:nvPr/>
        </p:nvSpPr>
        <p:spPr>
          <a:xfrm>
            <a:off x="11277295" y="6473952"/>
            <a:ext cx="457200" cy="274320"/>
          </a:xfrm>
          <a:prstGeom prst="rect">
            <a:avLst/>
          </a:prstGeom>
          <a:noFill/>
          <a:ln/>
        </p:spPr>
        <p:txBody>
          <a:bodyPr wrap="square" lIns="0" tIns="0" rIns="0" bIns="0" rtlCol="0" anchor="ctr"/>
          <a:lstStyle/>
          <a:p>
            <a:pPr marL="0" indent="0" algn="r">
              <a:buNone/>
            </a:pPr>
            <a:r>
              <a:rPr lang="en-US" sz="800" dirty="0">
                <a:solidFill>
                  <a:srgbClr val="8896B3"/>
                </a:solidFill>
                <a:latin typeface="Calibri" pitchFamily="34" charset="0"/>
                <a:ea typeface="Calibri" pitchFamily="34" charset="-122"/>
                <a:cs typeface="Calibri"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9144000" cy="320040"/>
          </a:xfrm>
          <a:prstGeom prst="rect">
            <a:avLst/>
          </a:prstGeom>
          <a:noFill/>
          <a:ln/>
        </p:spPr>
        <p:txBody>
          <a:bodyPr wrap="square" lIns="0" tIns="0" rIns="0" bIns="0" rtlCol="0" anchor="ctr"/>
          <a:lstStyle/>
          <a:p>
            <a:pPr marL="0" indent="0">
              <a:buNone/>
            </a:pPr>
            <a:r>
              <a:rPr lang="en-US" sz="1300" b="1" kern="0" spc="200" dirty="0">
                <a:solidFill>
                  <a:srgbClr val="E15554"/>
                </a:solidFill>
                <a:latin typeface="Calibri" pitchFamily="34" charset="0"/>
                <a:ea typeface="Calibri" pitchFamily="34" charset="-122"/>
                <a:cs typeface="Calibri" pitchFamily="34" charset="-120"/>
              </a:rPr>
              <a:t>DATA CLEANING</a:t>
            </a:r>
            <a:endParaRPr lang="en-US" sz="1300" dirty="0"/>
          </a:p>
        </p:txBody>
      </p:sp>
      <p:sp>
        <p:nvSpPr>
          <p:cNvPr id="3" name="Text 1"/>
          <p:cNvSpPr txBox="1"/>
          <p:nvPr/>
        </p:nvSpPr>
        <p:spPr>
          <a:xfrm>
            <a:off x="640080" y="713232"/>
            <a:ext cx="10789920" cy="77724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A Real Discovery, Not Just “.dropna()”</a:t>
            </a:r>
            <a:endParaRPr lang="en-US" sz="3200" dirty="0"/>
          </a:p>
        </p:txBody>
      </p:sp>
      <p:sp>
        <p:nvSpPr>
          <p:cNvPr id="4" name="Shape 2"/>
          <p:cNvSpPr/>
          <p:nvPr/>
        </p:nvSpPr>
        <p:spPr>
          <a:xfrm>
            <a:off x="640080" y="1874520"/>
            <a:ext cx="5257800" cy="3977640"/>
          </a:xfrm>
          <a:prstGeom prst="roundRect">
            <a:avLst>
              <a:gd name="adj" fmla="val 2759"/>
            </a:avLst>
          </a:prstGeom>
          <a:solidFill>
            <a:srgbClr val="EAF1FB"/>
          </a:solidFill>
          <a:ln/>
        </p:spPr>
      </p:sp>
      <p:sp>
        <p:nvSpPr>
          <p:cNvPr id="5" name="Shape 3"/>
          <p:cNvSpPr/>
          <p:nvPr/>
        </p:nvSpPr>
        <p:spPr>
          <a:xfrm>
            <a:off x="914400" y="2148840"/>
            <a:ext cx="594360" cy="594360"/>
          </a:xfrm>
          <a:prstGeom prst="ellipse">
            <a:avLst/>
          </a:prstGeom>
          <a:solidFill>
            <a:srgbClr val="E15554"/>
          </a:solidFill>
          <a:ln/>
        </p:spPr>
      </p:sp>
      <p:pic>
        <p:nvPicPr>
          <p:cNvPr id="6" name="Image 0" descr="/home/claude/deck/icons/search_white.png"/>
          <p:cNvPicPr>
            <a:picLocks noChangeAspect="1"/>
          </p:cNvPicPr>
          <p:nvPr/>
        </p:nvPicPr>
        <p:blipFill>
          <a:blip r:embed="rId3"/>
          <a:stretch>
            <a:fillRect/>
          </a:stretch>
        </p:blipFill>
        <p:spPr>
          <a:xfrm>
            <a:off x="997610" y="2232050"/>
            <a:ext cx="427939" cy="427939"/>
          </a:xfrm>
          <a:prstGeom prst="rect">
            <a:avLst/>
          </a:prstGeom>
        </p:spPr>
      </p:pic>
      <p:sp>
        <p:nvSpPr>
          <p:cNvPr id="7" name="Text 4"/>
          <p:cNvSpPr txBox="1"/>
          <p:nvPr/>
        </p:nvSpPr>
        <p:spPr>
          <a:xfrm>
            <a:off x="1645920" y="2212848"/>
            <a:ext cx="4023360" cy="457200"/>
          </a:xfrm>
          <a:prstGeom prst="rect">
            <a:avLst/>
          </a:prstGeom>
          <a:noFill/>
          <a:ln/>
        </p:spPr>
        <p:txBody>
          <a:bodyPr wrap="square" lIns="0" tIns="0" rIns="0" bIns="0" rtlCol="0" anchor="ctr"/>
          <a:lstStyle/>
          <a:p>
            <a:pPr marL="0" indent="0">
              <a:buNone/>
            </a:pPr>
            <a:r>
              <a:rPr lang="en-US" sz="1700" b="1" dirty="0">
                <a:solidFill>
                  <a:srgbClr val="1B2A4A"/>
                </a:solidFill>
                <a:latin typeface="Cambria" pitchFamily="34" charset="0"/>
                <a:ea typeface="Cambria" pitchFamily="34" charset="-122"/>
                <a:cs typeface="Cambria" pitchFamily="34" charset="-120"/>
              </a:rPr>
              <a:t>What We Found</a:t>
            </a:r>
            <a:endParaRPr lang="en-US" sz="1700" dirty="0"/>
          </a:p>
        </p:txBody>
      </p:sp>
      <p:sp>
        <p:nvSpPr>
          <p:cNvPr id="8" name="Text 5"/>
          <p:cNvSpPr txBox="1"/>
          <p:nvPr/>
        </p:nvSpPr>
        <p:spPr>
          <a:xfrm>
            <a:off x="914400" y="2880360"/>
            <a:ext cx="4754880" cy="640080"/>
          </a:xfrm>
          <a:prstGeom prst="rect">
            <a:avLst/>
          </a:prstGeom>
          <a:noFill/>
          <a:ln/>
        </p:spPr>
        <p:txBody>
          <a:bodyPr wrap="square" lIns="0" tIns="0" rIns="0" bIns="0" rtlCol="0" anchor="ctr"/>
          <a:lstStyle/>
          <a:p>
            <a:pPr marL="0" indent="0">
              <a:buNone/>
            </a:pPr>
            <a:r>
              <a:rPr lang="en-US" sz="3400" b="1" dirty="0">
                <a:solidFill>
                  <a:srgbClr val="E15554"/>
                </a:solidFill>
                <a:latin typeface="Cambria" pitchFamily="34" charset="0"/>
                <a:ea typeface="Cambria" pitchFamily="34" charset="-122"/>
                <a:cs typeface="Cambria" pitchFamily="34" charset="-120"/>
              </a:rPr>
              <a:t>37,663</a:t>
            </a:r>
            <a:endParaRPr lang="en-US" sz="3400" dirty="0"/>
          </a:p>
        </p:txBody>
      </p:sp>
      <p:sp>
        <p:nvSpPr>
          <p:cNvPr id="9" name="Text 6"/>
          <p:cNvSpPr txBox="1"/>
          <p:nvPr/>
        </p:nvSpPr>
        <p:spPr>
          <a:xfrm>
            <a:off x="914400" y="3566160"/>
            <a:ext cx="4754880" cy="2148840"/>
          </a:xfrm>
          <a:prstGeom prst="rect">
            <a:avLst/>
          </a:prstGeom>
          <a:noFill/>
          <a:ln/>
        </p:spPr>
        <p:txBody>
          <a:bodyPr wrap="square" lIns="0" tIns="0" rIns="0" bIns="0" rtlCol="0" anchor="ctr"/>
          <a:lstStyle/>
          <a:p>
            <a:pPr marL="0" indent="0">
              <a:lnSpc>
                <a:spcPct val="125000"/>
              </a:lnSpc>
              <a:buNone/>
            </a:pPr>
            <a:r>
              <a:rPr lang="en-US" sz="1300" dirty="0">
                <a:solidFill>
                  <a:srgbClr val="1B2A4A"/>
                </a:solidFill>
                <a:latin typeface="Calibri" pitchFamily="34" charset="0"/>
                <a:ea typeface="Calibri" pitchFamily="34" charset="-122"/>
                <a:cs typeface="Calibri" pitchFamily="34" charset="-120"/>
              </a:rPr>
              <a:t>orders marked “Cancelled” were also marked “Delivered” — a logical impossibility uncovered by cross-tabulating order_status against delivery_status before any cleaning began.</a:t>
            </a:r>
            <a:endParaRPr lang="en-US" sz="1300" dirty="0"/>
          </a:p>
        </p:txBody>
      </p:sp>
      <p:sp>
        <p:nvSpPr>
          <p:cNvPr id="10" name="Shape 7"/>
          <p:cNvSpPr/>
          <p:nvPr/>
        </p:nvSpPr>
        <p:spPr>
          <a:xfrm>
            <a:off x="6172200" y="1874520"/>
            <a:ext cx="5349240" cy="3977640"/>
          </a:xfrm>
          <a:prstGeom prst="roundRect">
            <a:avLst>
              <a:gd name="adj" fmla="val 2759"/>
            </a:avLst>
          </a:prstGeom>
          <a:solidFill>
            <a:srgbClr val="1B2A4A"/>
          </a:solidFill>
          <a:ln/>
        </p:spPr>
      </p:sp>
      <p:sp>
        <p:nvSpPr>
          <p:cNvPr id="11" name="Shape 8"/>
          <p:cNvSpPr/>
          <p:nvPr/>
        </p:nvSpPr>
        <p:spPr>
          <a:xfrm>
            <a:off x="6446520" y="2148840"/>
            <a:ext cx="594360" cy="594360"/>
          </a:xfrm>
          <a:prstGeom prst="ellipse">
            <a:avLst/>
          </a:prstGeom>
          <a:solidFill>
            <a:srgbClr val="2EC4B6"/>
          </a:solidFill>
          <a:ln/>
        </p:spPr>
      </p:sp>
      <p:pic>
        <p:nvPicPr>
          <p:cNvPr id="12" name="Image 1" descr="/home/claude/deck/icons/check_navy.png"/>
          <p:cNvPicPr>
            <a:picLocks noChangeAspect="1"/>
          </p:cNvPicPr>
          <p:nvPr/>
        </p:nvPicPr>
        <p:blipFill>
          <a:blip r:embed="rId4"/>
          <a:stretch>
            <a:fillRect/>
          </a:stretch>
        </p:blipFill>
        <p:spPr>
          <a:xfrm>
            <a:off x="6529730" y="2232050"/>
            <a:ext cx="427939" cy="427939"/>
          </a:xfrm>
          <a:prstGeom prst="rect">
            <a:avLst/>
          </a:prstGeom>
        </p:spPr>
      </p:pic>
      <p:sp>
        <p:nvSpPr>
          <p:cNvPr id="13" name="Text 9"/>
          <p:cNvSpPr txBox="1"/>
          <p:nvPr/>
        </p:nvSpPr>
        <p:spPr>
          <a:xfrm>
            <a:off x="7178040" y="2212848"/>
            <a:ext cx="4114800" cy="45720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What We Decided</a:t>
            </a:r>
            <a:endParaRPr lang="en-US" sz="1700" dirty="0"/>
          </a:p>
        </p:txBody>
      </p:sp>
      <p:sp>
        <p:nvSpPr>
          <p:cNvPr id="14" name="Text 10"/>
          <p:cNvSpPr txBox="1"/>
          <p:nvPr/>
        </p:nvSpPr>
        <p:spPr>
          <a:xfrm>
            <a:off x="6446520" y="2880360"/>
            <a:ext cx="4846320" cy="1280160"/>
          </a:xfrm>
          <a:prstGeom prst="rect">
            <a:avLst/>
          </a:prstGeom>
          <a:noFill/>
          <a:ln/>
        </p:spPr>
        <p:txBody>
          <a:bodyPr wrap="square" lIns="0" tIns="0" rIns="0" bIns="0" rtlCol="0" anchor="ctr"/>
          <a:lstStyle/>
          <a:p>
            <a:pPr marL="0" indent="0">
              <a:lnSpc>
                <a:spcPct val="125000"/>
              </a:lnSpc>
              <a:buNone/>
            </a:pPr>
            <a:r>
              <a:rPr lang="en-US" sz="1350" dirty="0">
                <a:solidFill>
                  <a:srgbClr val="C7D3E8"/>
                </a:solidFill>
                <a:latin typeface="Calibri" pitchFamily="34" charset="0"/>
                <a:ea typeface="Calibri" pitchFamily="34" charset="-122"/>
                <a:cs typeface="Calibri" pitchFamily="34" charset="-120"/>
              </a:rPr>
              <a:t>Scope every revenue and profit figure to “finalized” orders only — protecting every downstream number in the project from being inflated.</a:t>
            </a:r>
            <a:endParaRPr lang="en-US" sz="1350" dirty="0"/>
          </a:p>
        </p:txBody>
      </p:sp>
      <p:pic>
        <p:nvPicPr>
          <p:cNvPr id="15" name="Image 2" descr="/home/claude/deck/icons/check_teal.png"/>
          <p:cNvPicPr>
            <a:picLocks noChangeAspect="1"/>
          </p:cNvPicPr>
          <p:nvPr/>
        </p:nvPicPr>
        <p:blipFill>
          <a:blip r:embed="rId5"/>
          <a:stretch>
            <a:fillRect/>
          </a:stretch>
        </p:blipFill>
        <p:spPr>
          <a:xfrm>
            <a:off x="6446520" y="4343400"/>
            <a:ext cx="292608" cy="292608"/>
          </a:xfrm>
          <a:prstGeom prst="rect">
            <a:avLst/>
          </a:prstGeom>
        </p:spPr>
      </p:pic>
      <p:sp>
        <p:nvSpPr>
          <p:cNvPr id="16" name="Text 11"/>
          <p:cNvSpPr txBox="1"/>
          <p:nvPr/>
        </p:nvSpPr>
        <p:spPr>
          <a:xfrm>
            <a:off x="6858000" y="4288536"/>
            <a:ext cx="4480560" cy="41148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Zero duplicate rows across 1M+ records</a:t>
            </a:r>
            <a:endParaRPr lang="en-US" sz="1200" dirty="0"/>
          </a:p>
        </p:txBody>
      </p:sp>
      <p:pic>
        <p:nvPicPr>
          <p:cNvPr id="17" name="Image 3" descr="/home/claude/deck/icons/check_teal.png"/>
          <p:cNvPicPr>
            <a:picLocks noChangeAspect="1"/>
          </p:cNvPicPr>
          <p:nvPr/>
        </p:nvPicPr>
        <p:blipFill>
          <a:blip r:embed="rId5"/>
          <a:stretch>
            <a:fillRect/>
          </a:stretch>
        </p:blipFill>
        <p:spPr>
          <a:xfrm>
            <a:off x="6446520" y="4800600"/>
            <a:ext cx="292608" cy="292608"/>
          </a:xfrm>
          <a:prstGeom prst="rect">
            <a:avLst/>
          </a:prstGeom>
        </p:spPr>
      </p:pic>
      <p:sp>
        <p:nvSpPr>
          <p:cNvPr id="18" name="Text 12"/>
          <p:cNvSpPr txBox="1"/>
          <p:nvPr/>
        </p:nvSpPr>
        <p:spPr>
          <a:xfrm>
            <a:off x="6858000" y="4745736"/>
            <a:ext cx="4480560" cy="41148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Zero negative values in any numeric column</a:t>
            </a:r>
            <a:endParaRPr lang="en-US" sz="1200" dirty="0"/>
          </a:p>
        </p:txBody>
      </p:sp>
      <p:pic>
        <p:nvPicPr>
          <p:cNvPr id="19" name="Image 4" descr="/home/claude/deck/icons/check_teal.png"/>
          <p:cNvPicPr>
            <a:picLocks noChangeAspect="1"/>
          </p:cNvPicPr>
          <p:nvPr/>
        </p:nvPicPr>
        <p:blipFill>
          <a:blip r:embed="rId5"/>
          <a:stretch>
            <a:fillRect/>
          </a:stretch>
        </p:blipFill>
        <p:spPr>
          <a:xfrm>
            <a:off x="6446520" y="5257800"/>
            <a:ext cx="292608" cy="292608"/>
          </a:xfrm>
          <a:prstGeom prst="rect">
            <a:avLst/>
          </a:prstGeom>
        </p:spPr>
      </p:pic>
      <p:sp>
        <p:nvSpPr>
          <p:cNvPr id="20" name="Text 13"/>
          <p:cNvSpPr txBox="1"/>
          <p:nvPr/>
        </p:nvSpPr>
        <p:spPr>
          <a:xfrm>
            <a:off x="6858000" y="5202936"/>
            <a:ext cx="4480560" cy="41148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Financial columns independently recalculated — 0 discrepancies</a:t>
            </a:r>
            <a:endParaRPr lang="en-US" sz="1200" dirty="0"/>
          </a:p>
        </p:txBody>
      </p:sp>
      <p:sp>
        <p:nvSpPr>
          <p:cNvPr id="21" name="Text 14"/>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800" kern="0" spc="100" dirty="0">
                <a:solidFill>
                  <a:srgbClr val="6B7A99"/>
                </a:solidFill>
                <a:latin typeface="Calibri" pitchFamily="34" charset="0"/>
                <a:ea typeface="Calibri" pitchFamily="34" charset="-122"/>
                <a:cs typeface="Calibri" pitchFamily="34" charset="-120"/>
              </a:rPr>
              <a:t>MARKETPLACE PROFIT LEAKAGE &amp; FULFILLMENT RISK INTELLIGENCE</a:t>
            </a:r>
            <a:endParaRPr lang="en-US" sz="800" dirty="0"/>
          </a:p>
        </p:txBody>
      </p:sp>
      <p:sp>
        <p:nvSpPr>
          <p:cNvPr id="22" name="Text 15"/>
          <p:cNvSpPr txBox="1"/>
          <p:nvPr/>
        </p:nvSpPr>
        <p:spPr>
          <a:xfrm>
            <a:off x="11277295" y="6473952"/>
            <a:ext cx="457200" cy="274320"/>
          </a:xfrm>
          <a:prstGeom prst="rect">
            <a:avLst/>
          </a:prstGeom>
          <a:noFill/>
          <a:ln/>
        </p:spPr>
        <p:txBody>
          <a:bodyPr wrap="square" lIns="0" tIns="0" rIns="0" bIns="0" rtlCol="0" anchor="ctr"/>
          <a:lstStyle/>
          <a:p>
            <a:pPr marL="0" indent="0" algn="r">
              <a:buNone/>
            </a:pPr>
            <a:r>
              <a:rPr lang="en-US" sz="800" dirty="0">
                <a:solidFill>
                  <a:srgbClr val="6B7A99"/>
                </a:solidFill>
                <a:latin typeface="Calibri" pitchFamily="34" charset="0"/>
                <a:ea typeface="Calibri" pitchFamily="34" charset="-122"/>
                <a:cs typeface="Calibri"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9144000" cy="320040"/>
          </a:xfrm>
          <a:prstGeom prst="rect">
            <a:avLst/>
          </a:prstGeom>
          <a:noFill/>
          <a:ln/>
        </p:spPr>
        <p:txBody>
          <a:bodyPr wrap="square" lIns="0" tIns="0" rIns="0" bIns="0" rtlCol="0" anchor="ctr"/>
          <a:lstStyle/>
          <a:p>
            <a:pPr marL="0" indent="0">
              <a:buNone/>
            </a:pPr>
            <a:r>
              <a:rPr lang="en-US" sz="1300" b="1" kern="0" spc="200" dirty="0">
                <a:solidFill>
                  <a:srgbClr val="E15554"/>
                </a:solidFill>
                <a:latin typeface="Calibri" pitchFamily="34" charset="0"/>
                <a:ea typeface="Calibri" pitchFamily="34" charset="-122"/>
                <a:cs typeface="Calibri" pitchFamily="34" charset="-120"/>
              </a:rPr>
              <a:t>DEEP ANALYSIS</a:t>
            </a:r>
            <a:endParaRPr lang="en-US" sz="1300" dirty="0"/>
          </a:p>
        </p:txBody>
      </p:sp>
      <p:sp>
        <p:nvSpPr>
          <p:cNvPr id="3" name="Text 1"/>
          <p:cNvSpPr txBox="1"/>
          <p:nvPr/>
        </p:nvSpPr>
        <p:spPr>
          <a:xfrm>
            <a:off x="640080" y="713232"/>
            <a:ext cx="10789920" cy="77724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18 SQL Queries Across 6 Business Themes</a:t>
            </a:r>
            <a:endParaRPr lang="en-US" sz="3200" dirty="0"/>
          </a:p>
        </p:txBody>
      </p:sp>
      <p:sp>
        <p:nvSpPr>
          <p:cNvPr id="4" name="Shape 2"/>
          <p:cNvSpPr/>
          <p:nvPr/>
        </p:nvSpPr>
        <p:spPr>
          <a:xfrm>
            <a:off x="640080" y="1874520"/>
            <a:ext cx="2377440" cy="1371600"/>
          </a:xfrm>
          <a:prstGeom prst="roundRect">
            <a:avLst>
              <a:gd name="adj" fmla="val 6667"/>
            </a:avLst>
          </a:prstGeom>
          <a:solidFill>
            <a:srgbClr val="EAF1FB"/>
          </a:solidFill>
          <a:ln/>
          <a:effectLst>
            <a:outerShdw blurRad="76200" dist="25400" dir="5400000" algn="bl" rotWithShape="0">
              <a:srgbClr val="1B2A4A">
                <a:alpha val="12000"/>
              </a:srgbClr>
            </a:outerShdw>
          </a:effectLst>
        </p:spPr>
      </p:sp>
      <p:sp>
        <p:nvSpPr>
          <p:cNvPr id="5" name="Text 3"/>
          <p:cNvSpPr txBox="1"/>
          <p:nvPr/>
        </p:nvSpPr>
        <p:spPr>
          <a:xfrm>
            <a:off x="777240" y="2093976"/>
            <a:ext cx="2103120" cy="685800"/>
          </a:xfrm>
          <a:prstGeom prst="rect">
            <a:avLst/>
          </a:prstGeom>
          <a:noFill/>
          <a:ln/>
        </p:spPr>
        <p:txBody>
          <a:bodyPr wrap="square" lIns="0" tIns="0" rIns="0" bIns="0" rtlCol="0" anchor="ctr"/>
          <a:lstStyle/>
          <a:p>
            <a:pPr marL="0" indent="0" algn="ctr">
              <a:buNone/>
            </a:pPr>
            <a:r>
              <a:rPr lang="en-US" sz="3000" b="1" dirty="0">
                <a:solidFill>
                  <a:srgbClr val="1B2A4A"/>
                </a:solidFill>
                <a:latin typeface="Cambria" pitchFamily="34" charset="0"/>
                <a:ea typeface="Cambria" pitchFamily="34" charset="-122"/>
                <a:cs typeface="Cambria" pitchFamily="34" charset="-120"/>
              </a:rPr>
              <a:t>18</a:t>
            </a:r>
            <a:endParaRPr lang="en-US" sz="3000" dirty="0"/>
          </a:p>
        </p:txBody>
      </p:sp>
      <p:sp>
        <p:nvSpPr>
          <p:cNvPr id="6" name="Text 4"/>
          <p:cNvSpPr txBox="1"/>
          <p:nvPr/>
        </p:nvSpPr>
        <p:spPr>
          <a:xfrm>
            <a:off x="777240" y="2779776"/>
            <a:ext cx="2103120" cy="411480"/>
          </a:xfrm>
          <a:prstGeom prst="rect">
            <a:avLst/>
          </a:prstGeom>
          <a:noFill/>
          <a:ln/>
        </p:spPr>
        <p:txBody>
          <a:bodyPr wrap="square" lIns="0" tIns="0" rIns="0" bIns="0" rtlCol="0" anchor="ctr"/>
          <a:lstStyle/>
          <a:p>
            <a:pPr marL="0" indent="0" algn="ctr">
              <a:buNone/>
            </a:pPr>
            <a:r>
              <a:rPr lang="en-US" sz="1150" dirty="0">
                <a:solidFill>
                  <a:srgbClr val="6B7A99"/>
                </a:solidFill>
                <a:latin typeface="Calibri" pitchFamily="34" charset="0"/>
                <a:ea typeface="Calibri" pitchFamily="34" charset="-122"/>
                <a:cs typeface="Calibri" pitchFamily="34" charset="-120"/>
              </a:rPr>
              <a:t>SQL Queries Written</a:t>
            </a:r>
            <a:endParaRPr lang="en-US" sz="1150" dirty="0"/>
          </a:p>
        </p:txBody>
      </p:sp>
      <p:sp>
        <p:nvSpPr>
          <p:cNvPr id="7" name="Shape 5"/>
          <p:cNvSpPr/>
          <p:nvPr/>
        </p:nvSpPr>
        <p:spPr>
          <a:xfrm>
            <a:off x="3154680" y="1874520"/>
            <a:ext cx="2377440" cy="1371600"/>
          </a:xfrm>
          <a:prstGeom prst="roundRect">
            <a:avLst>
              <a:gd name="adj" fmla="val 6667"/>
            </a:avLst>
          </a:prstGeom>
          <a:solidFill>
            <a:srgbClr val="EAF1FB"/>
          </a:solidFill>
          <a:ln/>
          <a:effectLst>
            <a:outerShdw blurRad="76200" dist="25400" dir="5400000" algn="bl" rotWithShape="0">
              <a:srgbClr val="1B2A4A">
                <a:alpha val="12000"/>
              </a:srgbClr>
            </a:outerShdw>
          </a:effectLst>
        </p:spPr>
      </p:sp>
      <p:sp>
        <p:nvSpPr>
          <p:cNvPr id="8" name="Text 6"/>
          <p:cNvSpPr txBox="1"/>
          <p:nvPr/>
        </p:nvSpPr>
        <p:spPr>
          <a:xfrm>
            <a:off x="3291840" y="2093976"/>
            <a:ext cx="2103120" cy="685800"/>
          </a:xfrm>
          <a:prstGeom prst="rect">
            <a:avLst/>
          </a:prstGeom>
          <a:noFill/>
          <a:ln/>
        </p:spPr>
        <p:txBody>
          <a:bodyPr wrap="square" lIns="0" tIns="0" rIns="0" bIns="0" rtlCol="0" anchor="ctr"/>
          <a:lstStyle/>
          <a:p>
            <a:pPr marL="0" indent="0" algn="ctr">
              <a:buNone/>
            </a:pPr>
            <a:r>
              <a:rPr lang="en-US" sz="3000" b="1" dirty="0">
                <a:solidFill>
                  <a:srgbClr val="1B2A4A"/>
                </a:solidFill>
                <a:latin typeface="Cambria" pitchFamily="34" charset="0"/>
                <a:ea typeface="Cambria" pitchFamily="34" charset="-122"/>
                <a:cs typeface="Cambria" pitchFamily="34" charset="-120"/>
              </a:rPr>
              <a:t>6</a:t>
            </a:r>
            <a:endParaRPr lang="en-US" sz="3000" dirty="0"/>
          </a:p>
        </p:txBody>
      </p:sp>
      <p:sp>
        <p:nvSpPr>
          <p:cNvPr id="9" name="Text 7"/>
          <p:cNvSpPr txBox="1"/>
          <p:nvPr/>
        </p:nvSpPr>
        <p:spPr>
          <a:xfrm>
            <a:off x="3291840" y="2779776"/>
            <a:ext cx="2103120" cy="411480"/>
          </a:xfrm>
          <a:prstGeom prst="rect">
            <a:avLst/>
          </a:prstGeom>
          <a:noFill/>
          <a:ln/>
        </p:spPr>
        <p:txBody>
          <a:bodyPr wrap="square" lIns="0" tIns="0" rIns="0" bIns="0" rtlCol="0" anchor="ctr"/>
          <a:lstStyle/>
          <a:p>
            <a:pPr marL="0" indent="0" algn="ctr">
              <a:buNone/>
            </a:pPr>
            <a:r>
              <a:rPr lang="en-US" sz="1150" dirty="0">
                <a:solidFill>
                  <a:srgbClr val="6B7A99"/>
                </a:solidFill>
                <a:latin typeface="Calibri" pitchFamily="34" charset="0"/>
                <a:ea typeface="Calibri" pitchFamily="34" charset="-122"/>
                <a:cs typeface="Calibri" pitchFamily="34" charset="-120"/>
              </a:rPr>
              <a:t>Business Themes Covered</a:t>
            </a:r>
            <a:endParaRPr lang="en-US" sz="1150" dirty="0"/>
          </a:p>
        </p:txBody>
      </p:sp>
      <p:sp>
        <p:nvSpPr>
          <p:cNvPr id="10" name="Shape 8"/>
          <p:cNvSpPr/>
          <p:nvPr/>
        </p:nvSpPr>
        <p:spPr>
          <a:xfrm>
            <a:off x="5669280" y="1874520"/>
            <a:ext cx="2377440" cy="1371600"/>
          </a:xfrm>
          <a:prstGeom prst="roundRect">
            <a:avLst>
              <a:gd name="adj" fmla="val 6667"/>
            </a:avLst>
          </a:prstGeom>
          <a:solidFill>
            <a:srgbClr val="EAF1FB"/>
          </a:solidFill>
          <a:ln/>
          <a:effectLst>
            <a:outerShdw blurRad="76200" dist="25400" dir="5400000" algn="bl" rotWithShape="0">
              <a:srgbClr val="1B2A4A">
                <a:alpha val="12000"/>
              </a:srgbClr>
            </a:outerShdw>
          </a:effectLst>
        </p:spPr>
      </p:sp>
      <p:sp>
        <p:nvSpPr>
          <p:cNvPr id="11" name="Text 9"/>
          <p:cNvSpPr txBox="1"/>
          <p:nvPr/>
        </p:nvSpPr>
        <p:spPr>
          <a:xfrm>
            <a:off x="5806440" y="2093976"/>
            <a:ext cx="2103120" cy="685800"/>
          </a:xfrm>
          <a:prstGeom prst="rect">
            <a:avLst/>
          </a:prstGeom>
          <a:noFill/>
          <a:ln/>
        </p:spPr>
        <p:txBody>
          <a:bodyPr wrap="square" lIns="0" tIns="0" rIns="0" bIns="0" rtlCol="0" anchor="ctr"/>
          <a:lstStyle/>
          <a:p>
            <a:pPr marL="0" indent="0" algn="ctr">
              <a:buNone/>
            </a:pPr>
            <a:r>
              <a:rPr lang="en-US" sz="3000" b="1" dirty="0">
                <a:solidFill>
                  <a:srgbClr val="1B2A4A"/>
                </a:solidFill>
                <a:latin typeface="Cambria" pitchFamily="34" charset="0"/>
                <a:ea typeface="Cambria" pitchFamily="34" charset="-122"/>
                <a:cs typeface="Cambria" pitchFamily="34" charset="-120"/>
              </a:rPr>
              <a:t>2</a:t>
            </a:r>
            <a:endParaRPr lang="en-US" sz="3000" dirty="0"/>
          </a:p>
        </p:txBody>
      </p:sp>
      <p:sp>
        <p:nvSpPr>
          <p:cNvPr id="12" name="Text 10"/>
          <p:cNvSpPr txBox="1"/>
          <p:nvPr/>
        </p:nvSpPr>
        <p:spPr>
          <a:xfrm>
            <a:off x="5806440" y="2779776"/>
            <a:ext cx="2103120" cy="411480"/>
          </a:xfrm>
          <a:prstGeom prst="rect">
            <a:avLst/>
          </a:prstGeom>
          <a:noFill/>
          <a:ln/>
        </p:spPr>
        <p:txBody>
          <a:bodyPr wrap="square" lIns="0" tIns="0" rIns="0" bIns="0" rtlCol="0" anchor="ctr"/>
          <a:lstStyle/>
          <a:p>
            <a:pPr marL="0" indent="0" algn="ctr">
              <a:buNone/>
            </a:pPr>
            <a:r>
              <a:rPr lang="en-US" sz="1150" dirty="0">
                <a:solidFill>
                  <a:srgbClr val="6B7A99"/>
                </a:solidFill>
                <a:latin typeface="Calibri" pitchFamily="34" charset="0"/>
                <a:ea typeface="Calibri" pitchFamily="34" charset="-122"/>
                <a:cs typeface="Calibri" pitchFamily="34" charset="-120"/>
              </a:rPr>
              <a:t>Reusable SQL Views Built</a:t>
            </a:r>
            <a:endParaRPr lang="en-US" sz="1150" dirty="0"/>
          </a:p>
        </p:txBody>
      </p:sp>
      <p:sp>
        <p:nvSpPr>
          <p:cNvPr id="13" name="Shape 11"/>
          <p:cNvSpPr/>
          <p:nvPr/>
        </p:nvSpPr>
        <p:spPr>
          <a:xfrm>
            <a:off x="640080" y="3611880"/>
            <a:ext cx="548640" cy="548640"/>
          </a:xfrm>
          <a:prstGeom prst="ellipse">
            <a:avLst/>
          </a:prstGeom>
          <a:solidFill>
            <a:srgbClr val="2EC4B6"/>
          </a:solidFill>
          <a:ln/>
        </p:spPr>
      </p:sp>
      <p:pic>
        <p:nvPicPr>
          <p:cNvPr id="14" name="Image 0" descr="/home/claude/deck/icons/layers_white.png"/>
          <p:cNvPicPr>
            <a:picLocks noChangeAspect="1"/>
          </p:cNvPicPr>
          <p:nvPr/>
        </p:nvPicPr>
        <p:blipFill>
          <a:blip r:embed="rId3"/>
          <a:stretch>
            <a:fillRect/>
          </a:stretch>
        </p:blipFill>
        <p:spPr>
          <a:xfrm>
            <a:off x="716890" y="3688690"/>
            <a:ext cx="395021" cy="395021"/>
          </a:xfrm>
          <a:prstGeom prst="rect">
            <a:avLst/>
          </a:prstGeom>
        </p:spPr>
      </p:pic>
      <p:sp>
        <p:nvSpPr>
          <p:cNvPr id="15" name="Text 12"/>
          <p:cNvSpPr txBox="1"/>
          <p:nvPr/>
        </p:nvSpPr>
        <p:spPr>
          <a:xfrm>
            <a:off x="1325880" y="3566160"/>
            <a:ext cx="4754880" cy="365760"/>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CTEs (WITH...AS)</a:t>
            </a:r>
            <a:endParaRPr lang="en-US" sz="1450" dirty="0"/>
          </a:p>
        </p:txBody>
      </p:sp>
      <p:sp>
        <p:nvSpPr>
          <p:cNvPr id="16" name="Text 13"/>
          <p:cNvSpPr txBox="1"/>
          <p:nvPr/>
        </p:nvSpPr>
        <p:spPr>
          <a:xfrm>
            <a:off x="1325880" y="3931920"/>
            <a:ext cx="4754880" cy="640080"/>
          </a:xfrm>
          <a:prstGeom prst="rect">
            <a:avLst/>
          </a:prstGeom>
          <a:noFill/>
          <a:ln/>
        </p:spPr>
        <p:txBody>
          <a:bodyPr wrap="square" lIns="0" tIns="0" rIns="0" bIns="0" rtlCol="0" anchor="ctr"/>
          <a:lstStyle/>
          <a:p>
            <a:pPr marL="0" indent="0">
              <a:buNone/>
            </a:pPr>
            <a:r>
              <a:rPr lang="en-US" sz="1150" dirty="0">
                <a:solidFill>
                  <a:srgbClr val="6B7A99"/>
                </a:solidFill>
                <a:latin typeface="Calibri" pitchFamily="34" charset="0"/>
                <a:ea typeface="Calibri" pitchFamily="34" charset="-122"/>
                <a:cs typeface="Calibri" pitchFamily="34" charset="-120"/>
              </a:rPr>
              <a:t>Multi-stage logic, built and read step by step</a:t>
            </a:r>
            <a:endParaRPr lang="en-US" sz="1150" dirty="0"/>
          </a:p>
        </p:txBody>
      </p:sp>
      <p:sp>
        <p:nvSpPr>
          <p:cNvPr id="17" name="Shape 14"/>
          <p:cNvSpPr/>
          <p:nvPr/>
        </p:nvSpPr>
        <p:spPr>
          <a:xfrm>
            <a:off x="6172200" y="3611880"/>
            <a:ext cx="548640" cy="548640"/>
          </a:xfrm>
          <a:prstGeom prst="ellipse">
            <a:avLst/>
          </a:prstGeom>
          <a:solidFill>
            <a:srgbClr val="2EC4B6"/>
          </a:solidFill>
          <a:ln/>
        </p:spPr>
      </p:sp>
      <p:pic>
        <p:nvPicPr>
          <p:cNvPr id="18" name="Image 1" descr="/home/claude/deck/icons/chartline_white.png"/>
          <p:cNvPicPr>
            <a:picLocks noChangeAspect="1"/>
          </p:cNvPicPr>
          <p:nvPr/>
        </p:nvPicPr>
        <p:blipFill>
          <a:blip r:embed="rId4"/>
          <a:stretch>
            <a:fillRect/>
          </a:stretch>
        </p:blipFill>
        <p:spPr>
          <a:xfrm>
            <a:off x="6249010" y="3688690"/>
            <a:ext cx="395021" cy="395021"/>
          </a:xfrm>
          <a:prstGeom prst="rect">
            <a:avLst/>
          </a:prstGeom>
        </p:spPr>
      </p:pic>
      <p:sp>
        <p:nvSpPr>
          <p:cNvPr id="19" name="Text 15"/>
          <p:cNvSpPr txBox="1"/>
          <p:nvPr/>
        </p:nvSpPr>
        <p:spPr>
          <a:xfrm>
            <a:off x="6858000" y="3566160"/>
            <a:ext cx="4754880" cy="365760"/>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Window Functions</a:t>
            </a:r>
            <a:endParaRPr lang="en-US" sz="1450" dirty="0"/>
          </a:p>
        </p:txBody>
      </p:sp>
      <p:sp>
        <p:nvSpPr>
          <p:cNvPr id="20" name="Text 16"/>
          <p:cNvSpPr txBox="1"/>
          <p:nvPr/>
        </p:nvSpPr>
        <p:spPr>
          <a:xfrm>
            <a:off x="6858000" y="3931920"/>
            <a:ext cx="4754880" cy="640080"/>
          </a:xfrm>
          <a:prstGeom prst="rect">
            <a:avLst/>
          </a:prstGeom>
          <a:noFill/>
          <a:ln/>
        </p:spPr>
        <p:txBody>
          <a:bodyPr wrap="square" lIns="0" tIns="0" rIns="0" bIns="0" rtlCol="0" anchor="ctr"/>
          <a:lstStyle/>
          <a:p>
            <a:pPr marL="0" indent="0">
              <a:buNone/>
            </a:pPr>
            <a:r>
              <a:rPr lang="en-US" sz="1150" dirty="0">
                <a:solidFill>
                  <a:srgbClr val="6B7A99"/>
                </a:solidFill>
                <a:latin typeface="Calibri" pitchFamily="34" charset="0"/>
                <a:ea typeface="Calibri" pitchFamily="34" charset="-122"/>
                <a:cs typeface="Calibri" pitchFamily="34" charset="-120"/>
              </a:rPr>
              <a:t>RANK(), NTILE() for ranking and RFM scoring</a:t>
            </a:r>
            <a:endParaRPr lang="en-US" sz="1150" dirty="0"/>
          </a:p>
        </p:txBody>
      </p:sp>
      <p:sp>
        <p:nvSpPr>
          <p:cNvPr id="21" name="Shape 17"/>
          <p:cNvSpPr/>
          <p:nvPr/>
        </p:nvSpPr>
        <p:spPr>
          <a:xfrm>
            <a:off x="640080" y="4846320"/>
            <a:ext cx="548640" cy="548640"/>
          </a:xfrm>
          <a:prstGeom prst="ellipse">
            <a:avLst/>
          </a:prstGeom>
          <a:solidFill>
            <a:srgbClr val="2EC4B6"/>
          </a:solidFill>
          <a:ln/>
        </p:spPr>
      </p:sp>
      <p:pic>
        <p:nvPicPr>
          <p:cNvPr id="22" name="Image 2" descr="/home/claude/deck/icons/users_white.png"/>
          <p:cNvPicPr>
            <a:picLocks noChangeAspect="1"/>
          </p:cNvPicPr>
          <p:nvPr/>
        </p:nvPicPr>
        <p:blipFill>
          <a:blip r:embed="rId5"/>
          <a:stretch>
            <a:fillRect/>
          </a:stretch>
        </p:blipFill>
        <p:spPr>
          <a:xfrm>
            <a:off x="716890" y="4923130"/>
            <a:ext cx="395021" cy="395021"/>
          </a:xfrm>
          <a:prstGeom prst="rect">
            <a:avLst/>
          </a:prstGeom>
        </p:spPr>
      </p:pic>
      <p:sp>
        <p:nvSpPr>
          <p:cNvPr id="23" name="Text 18"/>
          <p:cNvSpPr txBox="1"/>
          <p:nvPr/>
        </p:nvSpPr>
        <p:spPr>
          <a:xfrm>
            <a:off x="1325880" y="4800600"/>
            <a:ext cx="4754880" cy="365760"/>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Cohort Retention</a:t>
            </a:r>
            <a:endParaRPr lang="en-US" sz="1450" dirty="0"/>
          </a:p>
        </p:txBody>
      </p:sp>
      <p:sp>
        <p:nvSpPr>
          <p:cNvPr id="24" name="Text 19"/>
          <p:cNvSpPr txBox="1"/>
          <p:nvPr/>
        </p:nvSpPr>
        <p:spPr>
          <a:xfrm>
            <a:off x="1325880" y="5166360"/>
            <a:ext cx="4754880" cy="640080"/>
          </a:xfrm>
          <a:prstGeom prst="rect">
            <a:avLst/>
          </a:prstGeom>
          <a:noFill/>
          <a:ln/>
        </p:spPr>
        <p:txBody>
          <a:bodyPr wrap="square" lIns="0" tIns="0" rIns="0" bIns="0" rtlCol="0" anchor="ctr"/>
          <a:lstStyle/>
          <a:p>
            <a:pPr marL="0" indent="0">
              <a:buNone/>
            </a:pPr>
            <a:r>
              <a:rPr lang="en-US" sz="1150" dirty="0">
                <a:solidFill>
                  <a:srgbClr val="6B7A99"/>
                </a:solidFill>
                <a:latin typeface="Calibri" pitchFamily="34" charset="0"/>
                <a:ea typeface="Calibri" pitchFamily="34" charset="-122"/>
                <a:cs typeface="Calibri" pitchFamily="34" charset="-120"/>
              </a:rPr>
              <a:t>Monthly customer retention, tracked from first purchase</a:t>
            </a:r>
            <a:endParaRPr lang="en-US" sz="1150" dirty="0"/>
          </a:p>
        </p:txBody>
      </p:sp>
      <p:sp>
        <p:nvSpPr>
          <p:cNvPr id="25" name="Shape 20"/>
          <p:cNvSpPr/>
          <p:nvPr/>
        </p:nvSpPr>
        <p:spPr>
          <a:xfrm>
            <a:off x="6172200" y="4846320"/>
            <a:ext cx="548640" cy="548640"/>
          </a:xfrm>
          <a:prstGeom prst="ellipse">
            <a:avLst/>
          </a:prstGeom>
          <a:solidFill>
            <a:srgbClr val="2EC4B6"/>
          </a:solidFill>
          <a:ln/>
        </p:spPr>
      </p:sp>
      <p:pic>
        <p:nvPicPr>
          <p:cNvPr id="26" name="Image 3" descr="/home/claude/deck/icons/table_white.png"/>
          <p:cNvPicPr>
            <a:picLocks noChangeAspect="1"/>
          </p:cNvPicPr>
          <p:nvPr/>
        </p:nvPicPr>
        <p:blipFill>
          <a:blip r:embed="rId6"/>
          <a:stretch>
            <a:fillRect/>
          </a:stretch>
        </p:blipFill>
        <p:spPr>
          <a:xfrm>
            <a:off x="6249010" y="4923130"/>
            <a:ext cx="395021" cy="395021"/>
          </a:xfrm>
          <a:prstGeom prst="rect">
            <a:avLst/>
          </a:prstGeom>
        </p:spPr>
      </p:pic>
      <p:sp>
        <p:nvSpPr>
          <p:cNvPr id="27" name="Text 21"/>
          <p:cNvSpPr txBox="1"/>
          <p:nvPr/>
        </p:nvSpPr>
        <p:spPr>
          <a:xfrm>
            <a:off x="6858000" y="4800600"/>
            <a:ext cx="4754880" cy="365760"/>
          </a:xfrm>
          <a:prstGeom prst="rect">
            <a:avLst/>
          </a:prstGeom>
          <a:noFill/>
          <a:ln/>
        </p:spPr>
        <p:txBody>
          <a:bodyPr wrap="square" lIns="0" tIns="0" rIns="0" bIns="0" rtlCol="0" anchor="ctr"/>
          <a:lstStyle/>
          <a:p>
            <a:pPr marL="0" indent="0">
              <a:buNone/>
            </a:pPr>
            <a:r>
              <a:rPr lang="en-US" sz="1450" b="1" dirty="0">
                <a:solidFill>
                  <a:srgbClr val="1B2A4A"/>
                </a:solidFill>
                <a:latin typeface="Cambria" pitchFamily="34" charset="0"/>
                <a:ea typeface="Cambria" pitchFamily="34" charset="-122"/>
                <a:cs typeface="Cambria" pitchFamily="34" charset="-120"/>
              </a:rPr>
              <a:t>False-Positive Detection</a:t>
            </a:r>
            <a:endParaRPr lang="en-US" sz="1450" dirty="0"/>
          </a:p>
        </p:txBody>
      </p:sp>
      <p:sp>
        <p:nvSpPr>
          <p:cNvPr id="28" name="Text 22"/>
          <p:cNvSpPr txBox="1"/>
          <p:nvPr/>
        </p:nvSpPr>
        <p:spPr>
          <a:xfrm>
            <a:off x="6858000" y="5166360"/>
            <a:ext cx="4754880" cy="640080"/>
          </a:xfrm>
          <a:prstGeom prst="rect">
            <a:avLst/>
          </a:prstGeom>
          <a:noFill/>
          <a:ln/>
        </p:spPr>
        <p:txBody>
          <a:bodyPr wrap="square" lIns="0" tIns="0" rIns="0" bIns="0" rtlCol="0" anchor="ctr"/>
          <a:lstStyle/>
          <a:p>
            <a:pPr marL="0" indent="0">
              <a:buNone/>
            </a:pPr>
            <a:r>
              <a:rPr lang="en-US" sz="1150" dirty="0">
                <a:solidFill>
                  <a:srgbClr val="6B7A99"/>
                </a:solidFill>
                <a:latin typeface="Calibri" pitchFamily="34" charset="0"/>
                <a:ea typeface="Calibri" pitchFamily="34" charset="-122"/>
                <a:cs typeface="Calibri" pitchFamily="34" charset="-120"/>
              </a:rPr>
              <a:t>Revenue rank vs. true-profit rank, compared directly</a:t>
            </a:r>
            <a:endParaRPr lang="en-US" sz="1150" dirty="0"/>
          </a:p>
        </p:txBody>
      </p:sp>
      <p:sp>
        <p:nvSpPr>
          <p:cNvPr id="29" name="Text 23"/>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800" kern="0" spc="100" dirty="0">
                <a:solidFill>
                  <a:srgbClr val="6B7A99"/>
                </a:solidFill>
                <a:latin typeface="Calibri" pitchFamily="34" charset="0"/>
                <a:ea typeface="Calibri" pitchFamily="34" charset="-122"/>
                <a:cs typeface="Calibri" pitchFamily="34" charset="-120"/>
              </a:rPr>
              <a:t>MARKETPLACE PROFIT LEAKAGE &amp; FULFILLMENT RISK INTELLIGENCE</a:t>
            </a:r>
            <a:endParaRPr lang="en-US" sz="800" dirty="0"/>
          </a:p>
        </p:txBody>
      </p:sp>
      <p:sp>
        <p:nvSpPr>
          <p:cNvPr id="30" name="Text 24"/>
          <p:cNvSpPr txBox="1"/>
          <p:nvPr/>
        </p:nvSpPr>
        <p:spPr>
          <a:xfrm>
            <a:off x="11277295" y="6473952"/>
            <a:ext cx="457200" cy="274320"/>
          </a:xfrm>
          <a:prstGeom prst="rect">
            <a:avLst/>
          </a:prstGeom>
          <a:noFill/>
          <a:ln/>
        </p:spPr>
        <p:txBody>
          <a:bodyPr wrap="square" lIns="0" tIns="0" rIns="0" bIns="0" rtlCol="0" anchor="ctr"/>
          <a:lstStyle/>
          <a:p>
            <a:pPr marL="0" indent="0" algn="r">
              <a:buNone/>
            </a:pPr>
            <a:r>
              <a:rPr lang="en-US" sz="800" dirty="0">
                <a:solidFill>
                  <a:srgbClr val="6B7A99"/>
                </a:solidFill>
                <a:latin typeface="Calibri" pitchFamily="34" charset="0"/>
                <a:ea typeface="Calibri" pitchFamily="34" charset="-122"/>
                <a:cs typeface="Calibri"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9144000" cy="320040"/>
          </a:xfrm>
          <a:prstGeom prst="rect">
            <a:avLst/>
          </a:prstGeom>
          <a:noFill/>
          <a:ln/>
        </p:spPr>
        <p:txBody>
          <a:bodyPr wrap="square" lIns="0" tIns="0" rIns="0" bIns="0" rtlCol="0" anchor="ctr"/>
          <a:lstStyle/>
          <a:p>
            <a:pPr marL="0" indent="0">
              <a:buNone/>
            </a:pPr>
            <a:r>
              <a:rPr lang="en-US" sz="1300" b="1" kern="0" spc="200" dirty="0">
                <a:solidFill>
                  <a:srgbClr val="E15554"/>
                </a:solidFill>
                <a:latin typeface="Calibri" pitchFamily="34" charset="0"/>
                <a:ea typeface="Calibri" pitchFamily="34" charset="-122"/>
                <a:cs typeface="Calibri" pitchFamily="34" charset="-120"/>
              </a:rPr>
              <a:t>HEADLINE FINDING — 01</a:t>
            </a:r>
            <a:endParaRPr lang="en-US" sz="1300" dirty="0"/>
          </a:p>
        </p:txBody>
      </p:sp>
      <p:sp>
        <p:nvSpPr>
          <p:cNvPr id="3" name="Text 1"/>
          <p:cNvSpPr txBox="1"/>
          <p:nvPr/>
        </p:nvSpPr>
        <p:spPr>
          <a:xfrm>
            <a:off x="640080" y="713232"/>
            <a:ext cx="10789920" cy="77724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20.18% of Reported Profit Is Leakage</a:t>
            </a:r>
            <a:endParaRPr lang="en-US" sz="3200" dirty="0"/>
          </a:p>
        </p:txBody>
      </p:sp>
      <p:sp>
        <p:nvSpPr>
          <p:cNvPr id="4" name="Shape 2"/>
          <p:cNvSpPr/>
          <p:nvPr/>
        </p:nvSpPr>
        <p:spPr>
          <a:xfrm>
            <a:off x="640080" y="1828800"/>
            <a:ext cx="3017520" cy="4023360"/>
          </a:xfrm>
          <a:prstGeom prst="roundRect">
            <a:avLst>
              <a:gd name="adj" fmla="val 3636"/>
            </a:avLst>
          </a:prstGeom>
          <a:solidFill>
            <a:srgbClr val="E15554"/>
          </a:solidFill>
          <a:ln/>
        </p:spPr>
      </p:sp>
      <p:sp>
        <p:nvSpPr>
          <p:cNvPr id="5" name="Text 3"/>
          <p:cNvSpPr txBox="1"/>
          <p:nvPr/>
        </p:nvSpPr>
        <p:spPr>
          <a:xfrm>
            <a:off x="777240" y="2651760"/>
            <a:ext cx="2743200" cy="822960"/>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$25.99M</a:t>
            </a:r>
            <a:endParaRPr lang="en-US" sz="3400" dirty="0"/>
          </a:p>
        </p:txBody>
      </p:sp>
      <p:sp>
        <p:nvSpPr>
          <p:cNvPr id="6" name="Text 4"/>
          <p:cNvSpPr txBox="1"/>
          <p:nvPr/>
        </p:nvSpPr>
        <p:spPr>
          <a:xfrm>
            <a:off x="777240" y="3429000"/>
            <a:ext cx="2743200" cy="365760"/>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LOST TO PROFIT LEAKAGE</a:t>
            </a:r>
            <a:endParaRPr lang="en-US" sz="1200" dirty="0"/>
          </a:p>
        </p:txBody>
      </p:sp>
      <p:sp>
        <p:nvSpPr>
          <p:cNvPr id="7" name="Text 5"/>
          <p:cNvSpPr txBox="1"/>
          <p:nvPr/>
        </p:nvSpPr>
        <p:spPr>
          <a:xfrm>
            <a:off x="1005840" y="4114800"/>
            <a:ext cx="2286000" cy="1463040"/>
          </a:xfrm>
          <a:prstGeom prst="rect">
            <a:avLst/>
          </a:prstGeom>
          <a:noFill/>
          <a:ln/>
        </p:spPr>
        <p:txBody>
          <a:bodyPr wrap="square" lIns="0" tIns="0" rIns="0" bIns="0" rtlCol="0" anchor="ctr"/>
          <a:lstStyle/>
          <a:p>
            <a:pPr marL="0" indent="0" algn="ctr">
              <a:lnSpc>
                <a:spcPct val="120000"/>
              </a:lnSpc>
              <a:buNone/>
            </a:pPr>
            <a:r>
              <a:rPr lang="en-US" sz="1200" i="1" dirty="0">
                <a:solidFill>
                  <a:srgbClr val="FFE3E2"/>
                </a:solidFill>
                <a:latin typeface="Calibri" pitchFamily="34" charset="0"/>
                <a:ea typeface="Calibri" pitchFamily="34" charset="-122"/>
                <a:cs typeface="Calibri" pitchFamily="34" charset="-120"/>
              </a:rPr>
              <a:t>of $128.78M reported profit — never reaching the bottom line, hidden by returns and unrecovered shipping cost.</a:t>
            </a:r>
            <a:endParaRPr lang="en-US" sz="1200" dirty="0"/>
          </a:p>
        </p:txBody>
      </p:sp>
      <p:graphicFrame>
        <p:nvGraphicFramePr>
          <p:cNvPr id="8" name="Chart 0"/>
          <p:cNvGraphicFramePr/>
          <p:nvPr/>
        </p:nvGraphicFramePr>
        <p:xfrm>
          <a:off x="3931920" y="1828800"/>
          <a:ext cx="7589520" cy="3611880"/>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 6"/>
          <p:cNvSpPr txBox="1"/>
          <p:nvPr/>
        </p:nvSpPr>
        <p:spPr>
          <a:xfrm>
            <a:off x="3931920" y="5989320"/>
            <a:ext cx="7589520" cy="457200"/>
          </a:xfrm>
          <a:prstGeom prst="rect">
            <a:avLst/>
          </a:prstGeom>
          <a:noFill/>
          <a:ln/>
        </p:spPr>
        <p:txBody>
          <a:bodyPr wrap="square" lIns="0" tIns="0" rIns="0" bIns="0" rtlCol="0" anchor="ctr"/>
          <a:lstStyle/>
          <a:p>
            <a:pPr marL="0" indent="0">
              <a:buNone/>
            </a:pPr>
            <a:r>
              <a:rPr lang="en-US" sz="1150" i="1" dirty="0">
                <a:solidFill>
                  <a:srgbClr val="6B7A99"/>
                </a:solidFill>
                <a:latin typeface="Calibri" pitchFamily="34" charset="0"/>
                <a:ea typeface="Calibri" pitchFamily="34" charset="-122"/>
                <a:cs typeface="Calibri" pitchFamily="34" charset="-120"/>
              </a:rPr>
              <a:t>Reported profit minus real net contribution equals the 20.18% leakage — every figure independently validated in both Python and SQL.</a:t>
            </a:r>
            <a:endParaRPr lang="en-US" sz="1150" dirty="0"/>
          </a:p>
        </p:txBody>
      </p:sp>
      <p:sp>
        <p:nvSpPr>
          <p:cNvPr id="10" name="Text 7"/>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800" kern="0" spc="100" dirty="0">
                <a:solidFill>
                  <a:srgbClr val="6B7A99"/>
                </a:solidFill>
                <a:latin typeface="Calibri" pitchFamily="34" charset="0"/>
                <a:ea typeface="Calibri" pitchFamily="34" charset="-122"/>
                <a:cs typeface="Calibri" pitchFamily="34" charset="-120"/>
              </a:rPr>
              <a:t>MARKETPLACE PROFIT LEAKAGE &amp; FULFILLMENT RISK INTELLIGENCE</a:t>
            </a:r>
            <a:endParaRPr lang="en-US" sz="800" dirty="0"/>
          </a:p>
        </p:txBody>
      </p:sp>
      <p:sp>
        <p:nvSpPr>
          <p:cNvPr id="11" name="Text 8"/>
          <p:cNvSpPr txBox="1"/>
          <p:nvPr/>
        </p:nvSpPr>
        <p:spPr>
          <a:xfrm>
            <a:off x="11277295" y="6473952"/>
            <a:ext cx="457200" cy="274320"/>
          </a:xfrm>
          <a:prstGeom prst="rect">
            <a:avLst/>
          </a:prstGeom>
          <a:noFill/>
          <a:ln/>
        </p:spPr>
        <p:txBody>
          <a:bodyPr wrap="square" lIns="0" tIns="0" rIns="0" bIns="0" rtlCol="0" anchor="ctr"/>
          <a:lstStyle/>
          <a:p>
            <a:pPr marL="0" indent="0" algn="r">
              <a:buNone/>
            </a:pPr>
            <a:r>
              <a:rPr lang="en-US" sz="800" dirty="0">
                <a:solidFill>
                  <a:srgbClr val="6B7A99"/>
                </a:solidFill>
                <a:latin typeface="Calibri" pitchFamily="34" charset="0"/>
                <a:ea typeface="Calibri" pitchFamily="34" charset="-122"/>
                <a:cs typeface="Calibri"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9144000" cy="320040"/>
          </a:xfrm>
          <a:prstGeom prst="rect">
            <a:avLst/>
          </a:prstGeom>
          <a:noFill/>
          <a:ln/>
        </p:spPr>
        <p:txBody>
          <a:bodyPr wrap="square" lIns="0" tIns="0" rIns="0" bIns="0" rtlCol="0" anchor="ctr"/>
          <a:lstStyle/>
          <a:p>
            <a:pPr marL="0" indent="0">
              <a:buNone/>
            </a:pPr>
            <a:r>
              <a:rPr lang="en-US" sz="1300" b="1" kern="0" spc="200" dirty="0">
                <a:solidFill>
                  <a:srgbClr val="E15554"/>
                </a:solidFill>
                <a:latin typeface="Calibri" pitchFamily="34" charset="0"/>
                <a:ea typeface="Calibri" pitchFamily="34" charset="-122"/>
                <a:cs typeface="Calibri" pitchFamily="34" charset="-120"/>
              </a:rPr>
              <a:t>HEADLINE FINDING — 02</a:t>
            </a:r>
            <a:endParaRPr lang="en-US" sz="1300" dirty="0"/>
          </a:p>
        </p:txBody>
      </p:sp>
      <p:sp>
        <p:nvSpPr>
          <p:cNvPr id="3" name="Text 1"/>
          <p:cNvSpPr txBox="1"/>
          <p:nvPr/>
        </p:nvSpPr>
        <p:spPr>
          <a:xfrm>
            <a:off x="640080" y="713232"/>
            <a:ext cx="10789920" cy="77724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The Fastest Shipping Tier Is the Least Reliable</a:t>
            </a:r>
            <a:endParaRPr lang="en-US" sz="3200" dirty="0"/>
          </a:p>
        </p:txBody>
      </p:sp>
      <p:graphicFrame>
        <p:nvGraphicFramePr>
          <p:cNvPr id="4" name="Chart 0"/>
          <p:cNvGraphicFramePr/>
          <p:nvPr/>
        </p:nvGraphicFramePr>
        <p:xfrm>
          <a:off x="640080" y="1874520"/>
          <a:ext cx="694944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818120" y="1874520"/>
            <a:ext cx="3703320" cy="4023360"/>
          </a:xfrm>
          <a:prstGeom prst="roundRect">
            <a:avLst>
              <a:gd name="adj" fmla="val 2963"/>
            </a:avLst>
          </a:prstGeom>
          <a:solidFill>
            <a:srgbClr val="1B2A4A"/>
          </a:solidFill>
          <a:ln/>
        </p:spPr>
      </p:sp>
      <p:sp>
        <p:nvSpPr>
          <p:cNvPr id="6" name="Shape 3"/>
          <p:cNvSpPr/>
          <p:nvPr/>
        </p:nvSpPr>
        <p:spPr>
          <a:xfrm>
            <a:off x="8092440" y="2148840"/>
            <a:ext cx="548640" cy="548640"/>
          </a:xfrm>
          <a:prstGeom prst="ellipse">
            <a:avLst/>
          </a:prstGeom>
          <a:solidFill>
            <a:srgbClr val="F2B134"/>
          </a:solidFill>
          <a:ln/>
        </p:spPr>
      </p:sp>
      <p:pic>
        <p:nvPicPr>
          <p:cNvPr id="7" name="Image 0" descr="/home/claude/deck/icons/warning_navy.png"/>
          <p:cNvPicPr>
            <a:picLocks noChangeAspect="1"/>
          </p:cNvPicPr>
          <p:nvPr/>
        </p:nvPicPr>
        <p:blipFill>
          <a:blip r:embed="rId4"/>
          <a:stretch>
            <a:fillRect/>
          </a:stretch>
        </p:blipFill>
        <p:spPr>
          <a:xfrm>
            <a:off x="8169250" y="2225650"/>
            <a:ext cx="395021" cy="395021"/>
          </a:xfrm>
          <a:prstGeom prst="rect">
            <a:avLst/>
          </a:prstGeom>
        </p:spPr>
      </p:pic>
      <p:sp>
        <p:nvSpPr>
          <p:cNvPr id="8" name="Text 4"/>
          <p:cNvSpPr txBox="1"/>
          <p:nvPr/>
        </p:nvSpPr>
        <p:spPr>
          <a:xfrm>
            <a:off x="8092440" y="2834640"/>
            <a:ext cx="3200400" cy="1463040"/>
          </a:xfrm>
          <a:prstGeom prst="rect">
            <a:avLst/>
          </a:prstGeom>
          <a:noFill/>
          <a:ln/>
        </p:spPr>
        <p:txBody>
          <a:bodyPr wrap="square" lIns="0" tIns="0" rIns="0" bIns="0" rtlCol="0" anchor="ctr"/>
          <a:lstStyle/>
          <a:p>
            <a:pPr marL="0" indent="0">
              <a:lnSpc>
                <a:spcPct val="125000"/>
              </a:lnSpc>
              <a:buNone/>
            </a:pPr>
            <a:r>
              <a:rPr lang="en-US" sz="1400" dirty="0">
                <a:solidFill>
                  <a:srgbClr val="FFFFFF"/>
                </a:solidFill>
                <a:latin typeface="Calibri" pitchFamily="34" charset="0"/>
                <a:ea typeface="Calibri" pitchFamily="34" charset="-122"/>
                <a:cs typeface="Calibri" pitchFamily="34" charset="-120"/>
              </a:rPr>
              <a:t>Actual delivery time barely changes — about 7.5 days — no matter which shipping speed a customer pays for.</a:t>
            </a:r>
            <a:endParaRPr lang="en-US" sz="1400" dirty="0"/>
          </a:p>
        </p:txBody>
      </p:sp>
      <p:sp>
        <p:nvSpPr>
          <p:cNvPr id="9" name="Text 5"/>
          <p:cNvSpPr txBox="1"/>
          <p:nvPr/>
        </p:nvSpPr>
        <p:spPr>
          <a:xfrm>
            <a:off x="8092440" y="4389120"/>
            <a:ext cx="3200400" cy="1280160"/>
          </a:xfrm>
          <a:prstGeom prst="rect">
            <a:avLst/>
          </a:prstGeom>
          <a:noFill/>
          <a:ln/>
        </p:spPr>
        <p:txBody>
          <a:bodyPr wrap="square" lIns="0" tIns="0" rIns="0" bIns="0" rtlCol="0" anchor="ctr"/>
          <a:lstStyle/>
          <a:p>
            <a:pPr marL="0" indent="0">
              <a:lnSpc>
                <a:spcPct val="125000"/>
              </a:lnSpc>
              <a:buNone/>
            </a:pPr>
            <a:r>
              <a:rPr lang="en-US" sz="1300" i="1" dirty="0">
                <a:solidFill>
                  <a:srgbClr val="2EC4B6"/>
                </a:solidFill>
                <a:latin typeface="Calibri" pitchFamily="34" charset="0"/>
                <a:ea typeface="Calibri" pitchFamily="34" charset="-122"/>
                <a:cs typeface="Calibri" pitchFamily="34" charset="-120"/>
              </a:rPr>
              <a:t>The premium promise is the biggest gap between what's sold and what's delivered.</a:t>
            </a:r>
            <a:endParaRPr lang="en-US" sz="1300" dirty="0"/>
          </a:p>
        </p:txBody>
      </p:sp>
      <p:sp>
        <p:nvSpPr>
          <p:cNvPr id="10" name="Text 6"/>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800" kern="0" spc="100" dirty="0">
                <a:solidFill>
                  <a:srgbClr val="6B7A99"/>
                </a:solidFill>
                <a:latin typeface="Calibri" pitchFamily="34" charset="0"/>
                <a:ea typeface="Calibri" pitchFamily="34" charset="-122"/>
                <a:cs typeface="Calibri" pitchFamily="34" charset="-120"/>
              </a:rPr>
              <a:t>MARKETPLACE PROFIT LEAKAGE &amp; FULFILLMENT RISK INTELLIGENCE</a:t>
            </a:r>
            <a:endParaRPr lang="en-US" sz="800" dirty="0"/>
          </a:p>
        </p:txBody>
      </p:sp>
      <p:sp>
        <p:nvSpPr>
          <p:cNvPr id="11" name="Text 7"/>
          <p:cNvSpPr txBox="1"/>
          <p:nvPr/>
        </p:nvSpPr>
        <p:spPr>
          <a:xfrm>
            <a:off x="11277295" y="6473952"/>
            <a:ext cx="457200" cy="274320"/>
          </a:xfrm>
          <a:prstGeom prst="rect">
            <a:avLst/>
          </a:prstGeom>
          <a:noFill/>
          <a:ln/>
        </p:spPr>
        <p:txBody>
          <a:bodyPr wrap="square" lIns="0" tIns="0" rIns="0" bIns="0" rtlCol="0" anchor="ctr"/>
          <a:lstStyle/>
          <a:p>
            <a:pPr marL="0" indent="0" algn="r">
              <a:buNone/>
            </a:pPr>
            <a:r>
              <a:rPr lang="en-US" sz="800" dirty="0">
                <a:solidFill>
                  <a:srgbClr val="6B7A99"/>
                </a:solidFill>
                <a:latin typeface="Calibri" pitchFamily="34" charset="0"/>
                <a:ea typeface="Calibri" pitchFamily="34" charset="-122"/>
                <a:cs typeface="Calibri"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9144000" cy="320040"/>
          </a:xfrm>
          <a:prstGeom prst="rect">
            <a:avLst/>
          </a:prstGeom>
          <a:noFill/>
          <a:ln/>
        </p:spPr>
        <p:txBody>
          <a:bodyPr wrap="square" lIns="0" tIns="0" rIns="0" bIns="0" rtlCol="0" anchor="ctr"/>
          <a:lstStyle/>
          <a:p>
            <a:pPr marL="0" indent="0">
              <a:buNone/>
            </a:pPr>
            <a:r>
              <a:rPr lang="en-US" sz="1300" b="1" kern="0" spc="200" dirty="0">
                <a:solidFill>
                  <a:srgbClr val="E15554"/>
                </a:solidFill>
                <a:latin typeface="Calibri" pitchFamily="34" charset="0"/>
                <a:ea typeface="Calibri" pitchFamily="34" charset="-122"/>
                <a:cs typeface="Calibri" pitchFamily="34" charset="-120"/>
              </a:rPr>
              <a:t>HEADLINE FINDING — 03</a:t>
            </a:r>
            <a:endParaRPr lang="en-US" sz="1300" dirty="0"/>
          </a:p>
        </p:txBody>
      </p:sp>
      <p:sp>
        <p:nvSpPr>
          <p:cNvPr id="3" name="Text 1"/>
          <p:cNvSpPr txBox="1"/>
          <p:nvPr/>
        </p:nvSpPr>
        <p:spPr>
          <a:xfrm>
            <a:off x="640080" y="713232"/>
            <a:ext cx="10789920" cy="77724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Some “Top Sellers” Are Quietly Underperforming</a:t>
            </a:r>
            <a:endParaRPr lang="en-US" sz="3200" dirty="0"/>
          </a:p>
        </p:txBody>
      </p:sp>
      <p:graphicFrame>
        <p:nvGraphicFramePr>
          <p:cNvPr id="4" name="Chart 0"/>
          <p:cNvGraphicFramePr/>
          <p:nvPr/>
        </p:nvGraphicFramePr>
        <p:xfrm>
          <a:off x="640080" y="1874520"/>
          <a:ext cx="740664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275320" y="1874520"/>
            <a:ext cx="3246120" cy="4023360"/>
          </a:xfrm>
          <a:prstGeom prst="roundRect">
            <a:avLst>
              <a:gd name="adj" fmla="val 3380"/>
            </a:avLst>
          </a:prstGeom>
          <a:solidFill>
            <a:srgbClr val="EAF1FB"/>
          </a:solidFill>
          <a:ln/>
        </p:spPr>
      </p:sp>
      <p:sp>
        <p:nvSpPr>
          <p:cNvPr id="6" name="Shape 3"/>
          <p:cNvSpPr/>
          <p:nvPr/>
        </p:nvSpPr>
        <p:spPr>
          <a:xfrm>
            <a:off x="8549640" y="2148840"/>
            <a:ext cx="548640" cy="548640"/>
          </a:xfrm>
          <a:prstGeom prst="ellipse">
            <a:avLst/>
          </a:prstGeom>
          <a:solidFill>
            <a:srgbClr val="1B2A4A"/>
          </a:solidFill>
          <a:ln/>
        </p:spPr>
      </p:sp>
      <p:pic>
        <p:nvPicPr>
          <p:cNvPr id="7" name="Image 0" descr="/home/claude/deck/icons/tags_white.png"/>
          <p:cNvPicPr>
            <a:picLocks noChangeAspect="1"/>
          </p:cNvPicPr>
          <p:nvPr/>
        </p:nvPicPr>
        <p:blipFill>
          <a:blip r:embed="rId4"/>
          <a:stretch>
            <a:fillRect/>
          </a:stretch>
        </p:blipFill>
        <p:spPr>
          <a:xfrm>
            <a:off x="8626450" y="2225650"/>
            <a:ext cx="395021" cy="395021"/>
          </a:xfrm>
          <a:prstGeom prst="rect">
            <a:avLst/>
          </a:prstGeom>
        </p:spPr>
      </p:pic>
      <p:sp>
        <p:nvSpPr>
          <p:cNvPr id="8" name="Text 4"/>
          <p:cNvSpPr txBox="1"/>
          <p:nvPr/>
        </p:nvSpPr>
        <p:spPr>
          <a:xfrm>
            <a:off x="8549640" y="2834640"/>
            <a:ext cx="2743200" cy="1828800"/>
          </a:xfrm>
          <a:prstGeom prst="rect">
            <a:avLst/>
          </a:prstGeom>
          <a:noFill/>
          <a:ln/>
        </p:spPr>
        <p:txBody>
          <a:bodyPr wrap="square" lIns="0" tIns="0" rIns="0" bIns="0" rtlCol="0" anchor="ctr"/>
          <a:lstStyle/>
          <a:p>
            <a:pPr marL="0" indent="0">
              <a:lnSpc>
                <a:spcPct val="125000"/>
              </a:lnSpc>
              <a:buNone/>
            </a:pPr>
            <a:r>
              <a:rPr lang="en-US" sz="1300" dirty="0">
                <a:solidFill>
                  <a:srgbClr val="1B2A4A"/>
                </a:solidFill>
                <a:latin typeface="Calibri" pitchFamily="34" charset="0"/>
                <a:ea typeface="Calibri" pitchFamily="34" charset="-122"/>
                <a:cs typeface="Calibri" pitchFamily="34" charset="-120"/>
              </a:rPr>
              <a:t>Philips and Fitbit rank near the top by revenue — but slide 5–7 places down once returns are counted against real profit.</a:t>
            </a:r>
            <a:endParaRPr lang="en-US" sz="1300" dirty="0"/>
          </a:p>
        </p:txBody>
      </p:sp>
      <p:sp>
        <p:nvSpPr>
          <p:cNvPr id="9" name="Text 5"/>
          <p:cNvSpPr txBox="1"/>
          <p:nvPr/>
        </p:nvSpPr>
        <p:spPr>
          <a:xfrm>
            <a:off x="8549640" y="4846320"/>
            <a:ext cx="2743200" cy="914400"/>
          </a:xfrm>
          <a:prstGeom prst="rect">
            <a:avLst/>
          </a:prstGeom>
          <a:noFill/>
          <a:ln/>
        </p:spPr>
        <p:txBody>
          <a:bodyPr wrap="square" lIns="0" tIns="0" rIns="0" bIns="0" rtlCol="0" anchor="ctr"/>
          <a:lstStyle/>
          <a:p>
            <a:pPr marL="0" indent="0">
              <a:lnSpc>
                <a:spcPct val="120000"/>
              </a:lnSpc>
              <a:buNone/>
            </a:pPr>
            <a:r>
              <a:rPr lang="en-US" sz="1150" i="1" dirty="0">
                <a:solidFill>
                  <a:srgbClr val="6B7A99"/>
                </a:solidFill>
                <a:latin typeface="Calibri" pitchFamily="34" charset="0"/>
                <a:ea typeface="Calibri" pitchFamily="34" charset="-122"/>
                <a:cs typeface="Calibri" pitchFamily="34" charset="-120"/>
              </a:rPr>
              <a:t>Found independently in both Python and SQL — the two results matched exactly.</a:t>
            </a:r>
            <a:endParaRPr lang="en-US" sz="1150" dirty="0"/>
          </a:p>
        </p:txBody>
      </p:sp>
      <p:sp>
        <p:nvSpPr>
          <p:cNvPr id="10" name="Text 6"/>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800" kern="0" spc="100" dirty="0">
                <a:solidFill>
                  <a:srgbClr val="6B7A99"/>
                </a:solidFill>
                <a:latin typeface="Calibri" pitchFamily="34" charset="0"/>
                <a:ea typeface="Calibri" pitchFamily="34" charset="-122"/>
                <a:cs typeface="Calibri" pitchFamily="34" charset="-120"/>
              </a:rPr>
              <a:t>MARKETPLACE PROFIT LEAKAGE &amp; FULFILLMENT RISK INTELLIGENCE</a:t>
            </a:r>
            <a:endParaRPr lang="en-US" sz="800" dirty="0"/>
          </a:p>
        </p:txBody>
      </p:sp>
      <p:sp>
        <p:nvSpPr>
          <p:cNvPr id="11" name="Text 7"/>
          <p:cNvSpPr txBox="1"/>
          <p:nvPr/>
        </p:nvSpPr>
        <p:spPr>
          <a:xfrm>
            <a:off x="11277295" y="6473952"/>
            <a:ext cx="457200" cy="274320"/>
          </a:xfrm>
          <a:prstGeom prst="rect">
            <a:avLst/>
          </a:prstGeom>
          <a:noFill/>
          <a:ln/>
        </p:spPr>
        <p:txBody>
          <a:bodyPr wrap="square" lIns="0" tIns="0" rIns="0" bIns="0" rtlCol="0" anchor="ctr"/>
          <a:lstStyle/>
          <a:p>
            <a:pPr marL="0" indent="0" algn="r">
              <a:buNone/>
            </a:pPr>
            <a:r>
              <a:rPr lang="en-US" sz="800" dirty="0">
                <a:solidFill>
                  <a:srgbClr val="6B7A99"/>
                </a:solidFill>
                <a:latin typeface="Calibri" pitchFamily="34" charset="0"/>
                <a:ea typeface="Calibri" pitchFamily="34" charset="-122"/>
                <a:cs typeface="Calibri"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A4A"/>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9144000" cy="320040"/>
          </a:xfrm>
          <a:prstGeom prst="rect">
            <a:avLst/>
          </a:prstGeom>
          <a:noFill/>
          <a:ln/>
        </p:spPr>
        <p:txBody>
          <a:bodyPr wrap="square" lIns="0" tIns="0" rIns="0" bIns="0" rtlCol="0" anchor="ctr"/>
          <a:lstStyle/>
          <a:p>
            <a:pPr marL="0" indent="0">
              <a:buNone/>
            </a:pPr>
            <a:r>
              <a:rPr lang="en-US" sz="1300" b="1" kern="0" spc="200" dirty="0">
                <a:solidFill>
                  <a:srgbClr val="2EC4B6"/>
                </a:solidFill>
                <a:latin typeface="Calibri" pitchFamily="34" charset="0"/>
                <a:ea typeface="Calibri" pitchFamily="34" charset="-122"/>
                <a:cs typeface="Calibri" pitchFamily="34" charset="-120"/>
              </a:rPr>
              <a:t>ANALYTICAL HONESTY</a:t>
            </a:r>
            <a:endParaRPr lang="en-US" sz="1300" dirty="0"/>
          </a:p>
        </p:txBody>
      </p:sp>
      <p:sp>
        <p:nvSpPr>
          <p:cNvPr id="3" name="Text 1"/>
          <p:cNvSpPr txBox="1"/>
          <p:nvPr/>
        </p:nvSpPr>
        <p:spPr>
          <a:xfrm>
            <a:off x="640080" y="713232"/>
            <a:ext cx="10789920" cy="77724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What We Tested — and Ruled Out</a:t>
            </a:r>
            <a:endParaRPr lang="en-US" sz="3200" dirty="0"/>
          </a:p>
        </p:txBody>
      </p:sp>
      <p:sp>
        <p:nvSpPr>
          <p:cNvPr id="4" name="Text 2"/>
          <p:cNvSpPr txBox="1"/>
          <p:nvPr/>
        </p:nvSpPr>
        <p:spPr>
          <a:xfrm>
            <a:off x="640080" y="1417320"/>
            <a:ext cx="9144000" cy="365760"/>
          </a:xfrm>
          <a:prstGeom prst="rect">
            <a:avLst/>
          </a:prstGeom>
          <a:noFill/>
          <a:ln/>
        </p:spPr>
        <p:txBody>
          <a:bodyPr wrap="square" lIns="0" tIns="0" rIns="0" bIns="0" rtlCol="0" anchor="ctr"/>
          <a:lstStyle/>
          <a:p>
            <a:pPr marL="0" indent="0">
              <a:buNone/>
            </a:pPr>
            <a:r>
              <a:rPr lang="en-US" sz="1300" i="1" dirty="0">
                <a:solidFill>
                  <a:srgbClr val="C7D3E8"/>
                </a:solidFill>
                <a:latin typeface="Calibri" pitchFamily="34" charset="0"/>
                <a:ea typeface="Calibri" pitchFamily="34" charset="-122"/>
                <a:cs typeface="Calibri" pitchFamily="34" charset="-120"/>
              </a:rPr>
              <a:t>Real analysis means reporting what the data doesn't support, not just what confirms a story.</a:t>
            </a:r>
            <a:endParaRPr lang="en-US" sz="1300" dirty="0"/>
          </a:p>
        </p:txBody>
      </p:sp>
      <p:sp>
        <p:nvSpPr>
          <p:cNvPr id="5" name="Shape 3"/>
          <p:cNvSpPr/>
          <p:nvPr/>
        </p:nvSpPr>
        <p:spPr>
          <a:xfrm>
            <a:off x="640080" y="2057400"/>
            <a:ext cx="10881360" cy="896112"/>
          </a:xfrm>
          <a:prstGeom prst="roundRect">
            <a:avLst>
              <a:gd name="adj" fmla="val 8163"/>
            </a:avLst>
          </a:prstGeom>
          <a:solidFill>
            <a:srgbClr val="233863"/>
          </a:solidFill>
          <a:ln/>
        </p:spPr>
      </p:sp>
      <p:sp>
        <p:nvSpPr>
          <p:cNvPr id="6" name="Shape 4"/>
          <p:cNvSpPr/>
          <p:nvPr/>
        </p:nvSpPr>
        <p:spPr>
          <a:xfrm>
            <a:off x="868680" y="2221992"/>
            <a:ext cx="548640" cy="548640"/>
          </a:xfrm>
          <a:prstGeom prst="ellipse">
            <a:avLst/>
          </a:prstGeom>
          <a:solidFill>
            <a:srgbClr val="E15554"/>
          </a:solidFill>
          <a:ln/>
        </p:spPr>
      </p:sp>
      <p:pic>
        <p:nvPicPr>
          <p:cNvPr id="7" name="Image 0" descr="/home/claude/deck/icons/times_white.png"/>
          <p:cNvPicPr>
            <a:picLocks noChangeAspect="1"/>
          </p:cNvPicPr>
          <p:nvPr/>
        </p:nvPicPr>
        <p:blipFill>
          <a:blip r:embed="rId3"/>
          <a:stretch>
            <a:fillRect/>
          </a:stretch>
        </p:blipFill>
        <p:spPr>
          <a:xfrm>
            <a:off x="945490" y="2298802"/>
            <a:ext cx="395021" cy="395021"/>
          </a:xfrm>
          <a:prstGeom prst="rect">
            <a:avLst/>
          </a:prstGeom>
        </p:spPr>
      </p:pic>
      <p:sp>
        <p:nvSpPr>
          <p:cNvPr id="8" name="Text 5"/>
          <p:cNvSpPr txBox="1"/>
          <p:nvPr/>
        </p:nvSpPr>
        <p:spPr>
          <a:xfrm>
            <a:off x="1600200" y="2148840"/>
            <a:ext cx="2926080" cy="731520"/>
          </a:xfrm>
          <a:prstGeom prst="rect">
            <a:avLst/>
          </a:prstGeom>
          <a:noFill/>
          <a:ln/>
        </p:spPr>
        <p:txBody>
          <a:bodyPr wrap="square" lIns="0" tIns="0" rIns="0" bIns="0"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Fraud risk score</a:t>
            </a:r>
            <a:endParaRPr lang="en-US" sz="1450" dirty="0"/>
          </a:p>
        </p:txBody>
      </p:sp>
      <p:sp>
        <p:nvSpPr>
          <p:cNvPr id="9" name="Text 6"/>
          <p:cNvSpPr txBox="1"/>
          <p:nvPr/>
        </p:nvSpPr>
        <p:spPr>
          <a:xfrm>
            <a:off x="4663440" y="2148840"/>
            <a:ext cx="6675120" cy="731520"/>
          </a:xfrm>
          <a:prstGeom prst="rect">
            <a:avLst/>
          </a:prstGeom>
          <a:noFill/>
          <a:ln/>
        </p:spPr>
        <p:txBody>
          <a:bodyPr wrap="square" lIns="0" tIns="0" rIns="0" bIns="0" rtlCol="0" anchor="ctr"/>
          <a:lstStyle/>
          <a:p>
            <a:pPr marL="0" indent="0">
              <a:buNone/>
            </a:pPr>
            <a:r>
              <a:rPr lang="en-US" sz="1250" dirty="0">
                <a:solidFill>
                  <a:srgbClr val="C7D3E8"/>
                </a:solidFill>
                <a:latin typeface="Calibri" pitchFamily="34" charset="0"/>
                <a:ea typeface="Calibri" pitchFamily="34" charset="-122"/>
                <a:cs typeface="Calibri" pitchFamily="34" charset="-120"/>
              </a:rPr>
              <a:t>No relationship with cancellations or returns — 99.4% of orders flagged “high risk”</a:t>
            </a:r>
            <a:endParaRPr lang="en-US" sz="1250" dirty="0"/>
          </a:p>
        </p:txBody>
      </p:sp>
      <p:sp>
        <p:nvSpPr>
          <p:cNvPr id="10" name="Shape 7"/>
          <p:cNvSpPr/>
          <p:nvPr/>
        </p:nvSpPr>
        <p:spPr>
          <a:xfrm>
            <a:off x="640080" y="3081528"/>
            <a:ext cx="10881360" cy="896112"/>
          </a:xfrm>
          <a:prstGeom prst="roundRect">
            <a:avLst>
              <a:gd name="adj" fmla="val 8163"/>
            </a:avLst>
          </a:prstGeom>
          <a:solidFill>
            <a:srgbClr val="233863"/>
          </a:solidFill>
          <a:ln/>
        </p:spPr>
      </p:sp>
      <p:sp>
        <p:nvSpPr>
          <p:cNvPr id="11" name="Shape 8"/>
          <p:cNvSpPr/>
          <p:nvPr/>
        </p:nvSpPr>
        <p:spPr>
          <a:xfrm>
            <a:off x="868680" y="3246120"/>
            <a:ext cx="548640" cy="548640"/>
          </a:xfrm>
          <a:prstGeom prst="ellipse">
            <a:avLst/>
          </a:prstGeom>
          <a:solidFill>
            <a:srgbClr val="E15554"/>
          </a:solidFill>
          <a:ln/>
        </p:spPr>
      </p:sp>
      <p:pic>
        <p:nvPicPr>
          <p:cNvPr id="12" name="Image 1" descr="/home/claude/deck/icons/times_white.png"/>
          <p:cNvPicPr>
            <a:picLocks noChangeAspect="1"/>
          </p:cNvPicPr>
          <p:nvPr/>
        </p:nvPicPr>
        <p:blipFill>
          <a:blip r:embed="rId3"/>
          <a:stretch>
            <a:fillRect/>
          </a:stretch>
        </p:blipFill>
        <p:spPr>
          <a:xfrm>
            <a:off x="945490" y="3322930"/>
            <a:ext cx="395021" cy="395021"/>
          </a:xfrm>
          <a:prstGeom prst="rect">
            <a:avLst/>
          </a:prstGeom>
        </p:spPr>
      </p:pic>
      <p:sp>
        <p:nvSpPr>
          <p:cNvPr id="13" name="Text 9"/>
          <p:cNvSpPr txBox="1"/>
          <p:nvPr/>
        </p:nvSpPr>
        <p:spPr>
          <a:xfrm>
            <a:off x="1600200" y="3172968"/>
            <a:ext cx="2926080" cy="731520"/>
          </a:xfrm>
          <a:prstGeom prst="rect">
            <a:avLst/>
          </a:prstGeom>
          <a:noFill/>
          <a:ln/>
        </p:spPr>
        <p:txBody>
          <a:bodyPr wrap="square" lIns="0" tIns="0" rIns="0" bIns="0"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Payment method</a:t>
            </a:r>
            <a:endParaRPr lang="en-US" sz="1450" dirty="0"/>
          </a:p>
        </p:txBody>
      </p:sp>
      <p:sp>
        <p:nvSpPr>
          <p:cNvPr id="14" name="Text 10"/>
          <p:cNvSpPr txBox="1"/>
          <p:nvPr/>
        </p:nvSpPr>
        <p:spPr>
          <a:xfrm>
            <a:off x="4663440" y="3172968"/>
            <a:ext cx="6675120" cy="731520"/>
          </a:xfrm>
          <a:prstGeom prst="rect">
            <a:avLst/>
          </a:prstGeom>
          <a:noFill/>
          <a:ln/>
        </p:spPr>
        <p:txBody>
          <a:bodyPr wrap="square" lIns="0" tIns="0" rIns="0" bIns="0" rtlCol="0" anchor="ctr"/>
          <a:lstStyle/>
          <a:p>
            <a:pPr marL="0" indent="0">
              <a:buNone/>
            </a:pPr>
            <a:r>
              <a:rPr lang="en-US" sz="1250" dirty="0">
                <a:solidFill>
                  <a:srgbClr val="C7D3E8"/>
                </a:solidFill>
                <a:latin typeface="Calibri" pitchFamily="34" charset="0"/>
                <a:ea typeface="Calibri" pitchFamily="34" charset="-122"/>
                <a:cs typeface="Calibri" pitchFamily="34" charset="-120"/>
              </a:rPr>
              <a:t>Return rate and profit nearly identical across every method</a:t>
            </a:r>
            <a:endParaRPr lang="en-US" sz="1250" dirty="0"/>
          </a:p>
        </p:txBody>
      </p:sp>
      <p:sp>
        <p:nvSpPr>
          <p:cNvPr id="15" name="Shape 11"/>
          <p:cNvSpPr/>
          <p:nvPr/>
        </p:nvSpPr>
        <p:spPr>
          <a:xfrm>
            <a:off x="640080" y="4105656"/>
            <a:ext cx="10881360" cy="896112"/>
          </a:xfrm>
          <a:prstGeom prst="roundRect">
            <a:avLst>
              <a:gd name="adj" fmla="val 8163"/>
            </a:avLst>
          </a:prstGeom>
          <a:solidFill>
            <a:srgbClr val="233863"/>
          </a:solidFill>
          <a:ln/>
        </p:spPr>
      </p:sp>
      <p:sp>
        <p:nvSpPr>
          <p:cNvPr id="16" name="Shape 12"/>
          <p:cNvSpPr/>
          <p:nvPr/>
        </p:nvSpPr>
        <p:spPr>
          <a:xfrm>
            <a:off x="868680" y="4270248"/>
            <a:ext cx="548640" cy="548640"/>
          </a:xfrm>
          <a:prstGeom prst="ellipse">
            <a:avLst/>
          </a:prstGeom>
          <a:solidFill>
            <a:srgbClr val="E15554"/>
          </a:solidFill>
          <a:ln/>
        </p:spPr>
      </p:sp>
      <p:pic>
        <p:nvPicPr>
          <p:cNvPr id="17" name="Image 2" descr="/home/claude/deck/icons/times_white.png"/>
          <p:cNvPicPr>
            <a:picLocks noChangeAspect="1"/>
          </p:cNvPicPr>
          <p:nvPr/>
        </p:nvPicPr>
        <p:blipFill>
          <a:blip r:embed="rId3"/>
          <a:stretch>
            <a:fillRect/>
          </a:stretch>
        </p:blipFill>
        <p:spPr>
          <a:xfrm>
            <a:off x="945490" y="4347058"/>
            <a:ext cx="395021" cy="395021"/>
          </a:xfrm>
          <a:prstGeom prst="rect">
            <a:avLst/>
          </a:prstGeom>
        </p:spPr>
      </p:pic>
      <p:sp>
        <p:nvSpPr>
          <p:cNvPr id="18" name="Text 13"/>
          <p:cNvSpPr txBox="1"/>
          <p:nvPr/>
        </p:nvSpPr>
        <p:spPr>
          <a:xfrm>
            <a:off x="1600200" y="4197096"/>
            <a:ext cx="2926080" cy="731520"/>
          </a:xfrm>
          <a:prstGeom prst="rect">
            <a:avLst/>
          </a:prstGeom>
          <a:noFill/>
          <a:ln/>
        </p:spPr>
        <p:txBody>
          <a:bodyPr wrap="square" lIns="0" tIns="0" rIns="0" bIns="0"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Traffic source</a:t>
            </a:r>
            <a:endParaRPr lang="en-US" sz="1450" dirty="0"/>
          </a:p>
        </p:txBody>
      </p:sp>
      <p:sp>
        <p:nvSpPr>
          <p:cNvPr id="19" name="Text 14"/>
          <p:cNvSpPr txBox="1"/>
          <p:nvPr/>
        </p:nvSpPr>
        <p:spPr>
          <a:xfrm>
            <a:off x="4663440" y="4197096"/>
            <a:ext cx="6675120" cy="731520"/>
          </a:xfrm>
          <a:prstGeom prst="rect">
            <a:avLst/>
          </a:prstGeom>
          <a:noFill/>
          <a:ln/>
        </p:spPr>
        <p:txBody>
          <a:bodyPr wrap="square" lIns="0" tIns="0" rIns="0" bIns="0" rtlCol="0" anchor="ctr"/>
          <a:lstStyle/>
          <a:p>
            <a:pPr marL="0" indent="0">
              <a:buNone/>
            </a:pPr>
            <a:r>
              <a:rPr lang="en-US" sz="1250" dirty="0">
                <a:solidFill>
                  <a:srgbClr val="C7D3E8"/>
                </a:solidFill>
                <a:latin typeface="Calibri" pitchFamily="34" charset="0"/>
                <a:ea typeface="Calibri" pitchFamily="34" charset="-122"/>
                <a:cs typeface="Calibri" pitchFamily="34" charset="-120"/>
              </a:rPr>
              <a:t>No channel brings measurably more profitable customers than another</a:t>
            </a:r>
            <a:endParaRPr lang="en-US" sz="1250" dirty="0"/>
          </a:p>
        </p:txBody>
      </p:sp>
      <p:sp>
        <p:nvSpPr>
          <p:cNvPr id="20" name="Shape 15"/>
          <p:cNvSpPr/>
          <p:nvPr/>
        </p:nvSpPr>
        <p:spPr>
          <a:xfrm>
            <a:off x="640080" y="5129784"/>
            <a:ext cx="10881360" cy="896112"/>
          </a:xfrm>
          <a:prstGeom prst="roundRect">
            <a:avLst>
              <a:gd name="adj" fmla="val 8163"/>
            </a:avLst>
          </a:prstGeom>
          <a:solidFill>
            <a:srgbClr val="233863"/>
          </a:solidFill>
          <a:ln/>
        </p:spPr>
      </p:sp>
      <p:sp>
        <p:nvSpPr>
          <p:cNvPr id="21" name="Shape 16"/>
          <p:cNvSpPr/>
          <p:nvPr/>
        </p:nvSpPr>
        <p:spPr>
          <a:xfrm>
            <a:off x="868680" y="5294376"/>
            <a:ext cx="548640" cy="548640"/>
          </a:xfrm>
          <a:prstGeom prst="ellipse">
            <a:avLst/>
          </a:prstGeom>
          <a:solidFill>
            <a:srgbClr val="E15554"/>
          </a:solidFill>
          <a:ln/>
        </p:spPr>
      </p:sp>
      <p:pic>
        <p:nvPicPr>
          <p:cNvPr id="22" name="Image 3" descr="/home/claude/deck/icons/times_white.png"/>
          <p:cNvPicPr>
            <a:picLocks noChangeAspect="1"/>
          </p:cNvPicPr>
          <p:nvPr/>
        </p:nvPicPr>
        <p:blipFill>
          <a:blip r:embed="rId3"/>
          <a:stretch>
            <a:fillRect/>
          </a:stretch>
        </p:blipFill>
        <p:spPr>
          <a:xfrm>
            <a:off x="945490" y="5371186"/>
            <a:ext cx="395021" cy="395021"/>
          </a:xfrm>
          <a:prstGeom prst="rect">
            <a:avLst/>
          </a:prstGeom>
        </p:spPr>
      </p:pic>
      <p:sp>
        <p:nvSpPr>
          <p:cNvPr id="23" name="Text 17"/>
          <p:cNvSpPr txBox="1"/>
          <p:nvPr/>
        </p:nvSpPr>
        <p:spPr>
          <a:xfrm>
            <a:off x="1600200" y="5221224"/>
            <a:ext cx="2926080" cy="731520"/>
          </a:xfrm>
          <a:prstGeom prst="rect">
            <a:avLst/>
          </a:prstGeom>
          <a:noFill/>
          <a:ln/>
        </p:spPr>
        <p:txBody>
          <a:bodyPr wrap="square" lIns="0" tIns="0" rIns="0" bIns="0" rtlCol="0" anchor="ctr"/>
          <a:lstStyle/>
          <a:p>
            <a:pPr marL="0" indent="0">
              <a:buNone/>
            </a:pPr>
            <a:r>
              <a:rPr lang="en-US" sz="1450" b="1" dirty="0">
                <a:solidFill>
                  <a:srgbClr val="FFFFFF"/>
                </a:solidFill>
                <a:latin typeface="Cambria" pitchFamily="34" charset="0"/>
                <a:ea typeface="Cambria" pitchFamily="34" charset="-122"/>
                <a:cs typeface="Cambria" pitchFamily="34" charset="-120"/>
              </a:rPr>
              <a:t>Late delivery → returns</a:t>
            </a:r>
            <a:endParaRPr lang="en-US" sz="1450" dirty="0"/>
          </a:p>
        </p:txBody>
      </p:sp>
      <p:sp>
        <p:nvSpPr>
          <p:cNvPr id="24" name="Text 18"/>
          <p:cNvSpPr txBox="1"/>
          <p:nvPr/>
        </p:nvSpPr>
        <p:spPr>
          <a:xfrm>
            <a:off x="4663440" y="5221224"/>
            <a:ext cx="6675120" cy="731520"/>
          </a:xfrm>
          <a:prstGeom prst="rect">
            <a:avLst/>
          </a:prstGeom>
          <a:noFill/>
          <a:ln/>
        </p:spPr>
        <p:txBody>
          <a:bodyPr wrap="square" lIns="0" tIns="0" rIns="0" bIns="0" rtlCol="0" anchor="ctr"/>
          <a:lstStyle/>
          <a:p>
            <a:pPr marL="0" indent="0">
              <a:buNone/>
            </a:pPr>
            <a:r>
              <a:rPr lang="en-US" sz="1250" dirty="0">
                <a:solidFill>
                  <a:srgbClr val="C7D3E8"/>
                </a:solidFill>
                <a:latin typeface="Calibri" pitchFamily="34" charset="0"/>
                <a:ea typeface="Calibri" pitchFamily="34" charset="-122"/>
                <a:cs typeface="Calibri" pitchFamily="34" charset="-120"/>
              </a:rPr>
              <a:t>12.50% vs. 12.48% return rate — statistically no difference</a:t>
            </a:r>
            <a:endParaRPr lang="en-US" sz="1250" dirty="0"/>
          </a:p>
        </p:txBody>
      </p:sp>
      <p:sp>
        <p:nvSpPr>
          <p:cNvPr id="25" name="Text 19"/>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800" kern="0" spc="100" dirty="0">
                <a:solidFill>
                  <a:srgbClr val="8896B3"/>
                </a:solidFill>
                <a:latin typeface="Calibri" pitchFamily="34" charset="0"/>
                <a:ea typeface="Calibri" pitchFamily="34" charset="-122"/>
                <a:cs typeface="Calibri" pitchFamily="34" charset="-120"/>
              </a:rPr>
              <a:t>MARKETPLACE PROFIT LEAKAGE &amp; FULFILLMENT RISK INTELLIGENCE</a:t>
            </a:r>
            <a:endParaRPr lang="en-US" sz="800" dirty="0"/>
          </a:p>
        </p:txBody>
      </p:sp>
      <p:sp>
        <p:nvSpPr>
          <p:cNvPr id="26" name="Text 20"/>
          <p:cNvSpPr txBox="1"/>
          <p:nvPr/>
        </p:nvSpPr>
        <p:spPr>
          <a:xfrm>
            <a:off x="11277295" y="6473952"/>
            <a:ext cx="457200" cy="274320"/>
          </a:xfrm>
          <a:prstGeom prst="rect">
            <a:avLst/>
          </a:prstGeom>
          <a:noFill/>
          <a:ln/>
        </p:spPr>
        <p:txBody>
          <a:bodyPr wrap="square" lIns="0" tIns="0" rIns="0" bIns="0" rtlCol="0" anchor="ctr"/>
          <a:lstStyle/>
          <a:p>
            <a:pPr marL="0" indent="0" algn="r">
              <a:buNone/>
            </a:pPr>
            <a:r>
              <a:rPr lang="en-US" sz="800" dirty="0">
                <a:solidFill>
                  <a:srgbClr val="8896B3"/>
                </a:solidFill>
                <a:latin typeface="Calibri" pitchFamily="34" charset="0"/>
                <a:ea typeface="Calibri" pitchFamily="34" charset="-122"/>
                <a:cs typeface="Calibri"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9144000" cy="320040"/>
          </a:xfrm>
          <a:prstGeom prst="rect">
            <a:avLst/>
          </a:prstGeom>
          <a:noFill/>
          <a:ln/>
        </p:spPr>
        <p:txBody>
          <a:bodyPr wrap="square" lIns="0" tIns="0" rIns="0" bIns="0" rtlCol="0" anchor="ctr"/>
          <a:lstStyle/>
          <a:p>
            <a:pPr marL="0" indent="0">
              <a:buNone/>
            </a:pPr>
            <a:r>
              <a:rPr lang="en-US" sz="1300" b="1" kern="0" spc="200" dirty="0">
                <a:solidFill>
                  <a:srgbClr val="E15554"/>
                </a:solidFill>
                <a:latin typeface="Calibri" pitchFamily="34" charset="0"/>
                <a:ea typeface="Calibri" pitchFamily="34" charset="-122"/>
                <a:cs typeface="Calibri" pitchFamily="34" charset="-120"/>
              </a:rPr>
              <a:t>THE DELIVERABLE</a:t>
            </a:r>
            <a:endParaRPr lang="en-US" sz="1300" dirty="0"/>
          </a:p>
        </p:txBody>
      </p:sp>
      <p:sp>
        <p:nvSpPr>
          <p:cNvPr id="3" name="Text 1"/>
          <p:cNvSpPr txBox="1"/>
          <p:nvPr/>
        </p:nvSpPr>
        <p:spPr>
          <a:xfrm>
            <a:off x="640080" y="713232"/>
            <a:ext cx="10789920" cy="77724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A Focused, Two-Page Interactive Dashboard</a:t>
            </a:r>
            <a:endParaRPr lang="en-US" sz="3200" dirty="0"/>
          </a:p>
        </p:txBody>
      </p:sp>
      <p:pic>
        <p:nvPicPr>
          <p:cNvPr id="4" name="Image 0" descr="/mnt/user-data/uploads/1789903163087_image.png"/>
          <p:cNvPicPr>
            <a:picLocks noChangeAspect="1"/>
          </p:cNvPicPr>
          <p:nvPr/>
        </p:nvPicPr>
        <p:blipFill>
          <a:blip r:embed="rId3"/>
          <a:stretch>
            <a:fillRect/>
          </a:stretch>
        </p:blipFill>
        <p:spPr>
          <a:xfrm>
            <a:off x="548640" y="1874520"/>
            <a:ext cx="5532120" cy="2916936"/>
          </a:xfrm>
          <a:prstGeom prst="rect">
            <a:avLst/>
          </a:prstGeom>
        </p:spPr>
      </p:pic>
      <p:pic>
        <p:nvPicPr>
          <p:cNvPr id="5" name="Image 1" descr="/mnt/user-data/uploads/1789903176963_image.png"/>
          <p:cNvPicPr>
            <a:picLocks noChangeAspect="1"/>
          </p:cNvPicPr>
          <p:nvPr/>
        </p:nvPicPr>
        <p:blipFill>
          <a:blip r:embed="rId4"/>
          <a:stretch>
            <a:fillRect/>
          </a:stretch>
        </p:blipFill>
        <p:spPr>
          <a:xfrm>
            <a:off x="6172200" y="1874520"/>
            <a:ext cx="5532120" cy="2916936"/>
          </a:xfrm>
          <a:prstGeom prst="rect">
            <a:avLst/>
          </a:prstGeom>
        </p:spPr>
      </p:pic>
      <p:sp>
        <p:nvSpPr>
          <p:cNvPr id="6" name="Shape 2"/>
          <p:cNvSpPr/>
          <p:nvPr/>
        </p:nvSpPr>
        <p:spPr>
          <a:xfrm>
            <a:off x="548640" y="1874520"/>
            <a:ext cx="5532120" cy="2916936"/>
          </a:xfrm>
          <a:prstGeom prst="rect">
            <a:avLst/>
          </a:prstGeom>
          <a:ln w="12700">
            <a:solidFill>
              <a:srgbClr val="D8E0EE"/>
            </a:solidFill>
            <a:prstDash val="solid"/>
          </a:ln>
        </p:spPr>
      </p:sp>
      <p:sp>
        <p:nvSpPr>
          <p:cNvPr id="7" name="Shape 3"/>
          <p:cNvSpPr/>
          <p:nvPr/>
        </p:nvSpPr>
        <p:spPr>
          <a:xfrm>
            <a:off x="6172200" y="1874520"/>
            <a:ext cx="5532120" cy="2916936"/>
          </a:xfrm>
          <a:prstGeom prst="rect">
            <a:avLst/>
          </a:prstGeom>
          <a:ln w="12700">
            <a:solidFill>
              <a:srgbClr val="D8E0EE"/>
            </a:solidFill>
            <a:prstDash val="solid"/>
          </a:ln>
        </p:spPr>
      </p:sp>
      <p:sp>
        <p:nvSpPr>
          <p:cNvPr id="8" name="Text 4"/>
          <p:cNvSpPr txBox="1"/>
          <p:nvPr/>
        </p:nvSpPr>
        <p:spPr>
          <a:xfrm>
            <a:off x="548640" y="4864608"/>
            <a:ext cx="5532120" cy="320040"/>
          </a:xfrm>
          <a:prstGeom prst="rect">
            <a:avLst/>
          </a:prstGeom>
          <a:noFill/>
          <a:ln/>
        </p:spPr>
        <p:txBody>
          <a:bodyPr wrap="square" lIns="0" tIns="0" rIns="0" bIns="0" rtlCol="0" anchor="ctr"/>
          <a:lstStyle/>
          <a:p>
            <a:pPr marL="0" indent="0" algn="ctr">
              <a:buNone/>
            </a:pPr>
            <a:r>
              <a:rPr lang="en-US" sz="1200" b="1" kern="0" spc="100" dirty="0">
                <a:solidFill>
                  <a:srgbClr val="1B2A4A"/>
                </a:solidFill>
                <a:latin typeface="Calibri" pitchFamily="34" charset="0"/>
                <a:ea typeface="Calibri" pitchFamily="34" charset="-122"/>
                <a:cs typeface="Calibri" pitchFamily="34" charset="-120"/>
              </a:rPr>
              <a:t>EXECUTIVE OVERVIEW</a:t>
            </a:r>
            <a:endParaRPr lang="en-US" sz="1200" dirty="0"/>
          </a:p>
        </p:txBody>
      </p:sp>
      <p:sp>
        <p:nvSpPr>
          <p:cNvPr id="9" name="Text 5"/>
          <p:cNvSpPr txBox="1"/>
          <p:nvPr/>
        </p:nvSpPr>
        <p:spPr>
          <a:xfrm>
            <a:off x="6172200" y="4864608"/>
            <a:ext cx="5532120" cy="320040"/>
          </a:xfrm>
          <a:prstGeom prst="rect">
            <a:avLst/>
          </a:prstGeom>
          <a:noFill/>
          <a:ln/>
        </p:spPr>
        <p:txBody>
          <a:bodyPr wrap="square" lIns="0" tIns="0" rIns="0" bIns="0" rtlCol="0" anchor="ctr"/>
          <a:lstStyle/>
          <a:p>
            <a:pPr marL="0" indent="0" algn="ctr">
              <a:buNone/>
            </a:pPr>
            <a:r>
              <a:rPr lang="en-US" sz="1200" b="1" kern="0" spc="100" dirty="0">
                <a:solidFill>
                  <a:srgbClr val="1B2A4A"/>
                </a:solidFill>
                <a:latin typeface="Calibri" pitchFamily="34" charset="0"/>
                <a:ea typeface="Calibri" pitchFamily="34" charset="-122"/>
                <a:cs typeface="Calibri" pitchFamily="34" charset="-120"/>
              </a:rPr>
              <a:t>LEAKAGE DIAGNOSTIC</a:t>
            </a:r>
            <a:endParaRPr lang="en-US" sz="1200" dirty="0"/>
          </a:p>
        </p:txBody>
      </p:sp>
      <p:sp>
        <p:nvSpPr>
          <p:cNvPr id="10" name="Text 6"/>
          <p:cNvSpPr txBox="1"/>
          <p:nvPr/>
        </p:nvSpPr>
        <p:spPr>
          <a:xfrm>
            <a:off x="640080" y="5349240"/>
            <a:ext cx="10881360" cy="822960"/>
          </a:xfrm>
          <a:prstGeom prst="rect">
            <a:avLst/>
          </a:prstGeom>
          <a:noFill/>
          <a:ln/>
        </p:spPr>
        <p:txBody>
          <a:bodyPr wrap="square" lIns="0" tIns="0" rIns="0" bIns="0" rtlCol="0" anchor="ctr"/>
          <a:lstStyle/>
          <a:p>
            <a:pPr marL="0" indent="0">
              <a:lnSpc>
                <a:spcPct val="120000"/>
              </a:lnSpc>
              <a:buNone/>
            </a:pPr>
            <a:r>
              <a:rPr lang="en-US" sz="1200" i="1" dirty="0">
                <a:solidFill>
                  <a:srgbClr val="6B7A99"/>
                </a:solidFill>
                <a:latin typeface="Calibri" pitchFamily="34" charset="0"/>
                <a:ea typeface="Calibri" pitchFamily="34" charset="-122"/>
                <a:cs typeface="Calibri" pitchFamily="34" charset="-120"/>
              </a:rPr>
              <a:t>Deliberately scoped to two themes — leakage and fulfillment — with synced Year and Category filters across both pages. Customer segmentation and cohort analysis were completed in SQL but intentionally left out of the final build to keep every visual tied directly to the core business question.</a:t>
            </a:r>
            <a:endParaRPr lang="en-US" sz="1200" dirty="0"/>
          </a:p>
        </p:txBody>
      </p:sp>
      <p:sp>
        <p:nvSpPr>
          <p:cNvPr id="11" name="Text 7"/>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800" kern="0" spc="100" dirty="0">
                <a:solidFill>
                  <a:srgbClr val="6B7A99"/>
                </a:solidFill>
                <a:latin typeface="Calibri" pitchFamily="34" charset="0"/>
                <a:ea typeface="Calibri" pitchFamily="34" charset="-122"/>
                <a:cs typeface="Calibri" pitchFamily="34" charset="-120"/>
              </a:rPr>
              <a:t>MARKETPLACE PROFIT LEAKAGE &amp; FULFILLMENT RISK INTELLIGENCE</a:t>
            </a:r>
            <a:endParaRPr lang="en-US" sz="800" dirty="0"/>
          </a:p>
        </p:txBody>
      </p:sp>
      <p:sp>
        <p:nvSpPr>
          <p:cNvPr id="12" name="Text 8"/>
          <p:cNvSpPr txBox="1"/>
          <p:nvPr/>
        </p:nvSpPr>
        <p:spPr>
          <a:xfrm>
            <a:off x="11277295" y="6473952"/>
            <a:ext cx="457200" cy="274320"/>
          </a:xfrm>
          <a:prstGeom prst="rect">
            <a:avLst/>
          </a:prstGeom>
          <a:noFill/>
          <a:ln/>
        </p:spPr>
        <p:txBody>
          <a:bodyPr wrap="square" lIns="0" tIns="0" rIns="0" bIns="0" rtlCol="0" anchor="ctr"/>
          <a:lstStyle/>
          <a:p>
            <a:pPr marL="0" indent="0" algn="r">
              <a:buNone/>
            </a:pPr>
            <a:r>
              <a:rPr lang="en-US" sz="800" dirty="0">
                <a:solidFill>
                  <a:srgbClr val="6B7A99"/>
                </a:solidFill>
                <a:latin typeface="Calibri" pitchFamily="34" charset="0"/>
                <a:ea typeface="Calibri" pitchFamily="34" charset="-122"/>
                <a:cs typeface="Calibri"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9144000" cy="320040"/>
          </a:xfrm>
          <a:prstGeom prst="rect">
            <a:avLst/>
          </a:prstGeom>
          <a:noFill/>
          <a:ln/>
        </p:spPr>
        <p:txBody>
          <a:bodyPr wrap="square" lIns="0" tIns="0" rIns="0" bIns="0" rtlCol="0" anchor="ctr"/>
          <a:lstStyle/>
          <a:p>
            <a:pPr marL="0" indent="0">
              <a:buNone/>
            </a:pPr>
            <a:r>
              <a:rPr lang="en-US" sz="1300" b="1" kern="0" spc="200" dirty="0">
                <a:solidFill>
                  <a:srgbClr val="E15554"/>
                </a:solidFill>
                <a:latin typeface="Calibri" pitchFamily="34" charset="0"/>
                <a:ea typeface="Calibri" pitchFamily="34" charset="-122"/>
                <a:cs typeface="Calibri" pitchFamily="34" charset="-120"/>
              </a:rPr>
              <a:t>SO WHAT?</a:t>
            </a:r>
            <a:endParaRPr lang="en-US" sz="1300" dirty="0"/>
          </a:p>
        </p:txBody>
      </p:sp>
      <p:sp>
        <p:nvSpPr>
          <p:cNvPr id="3" name="Text 1"/>
          <p:cNvSpPr txBox="1"/>
          <p:nvPr/>
        </p:nvSpPr>
        <p:spPr>
          <a:xfrm>
            <a:off x="640080" y="713232"/>
            <a:ext cx="10789920" cy="777240"/>
          </a:xfrm>
          <a:prstGeom prst="rect">
            <a:avLst/>
          </a:prstGeom>
          <a:noFill/>
          <a:ln/>
        </p:spPr>
        <p:txBody>
          <a:bodyPr wrap="square" lIns="0" tIns="0" rIns="0" bIns="0" rtlCol="0" anchor="ctr"/>
          <a:lstStyle/>
          <a:p>
            <a:pPr marL="0" indent="0">
              <a:buNone/>
            </a:pPr>
            <a:r>
              <a:rPr lang="en-US" sz="3200" b="1" dirty="0">
                <a:solidFill>
                  <a:srgbClr val="1B2A4A"/>
                </a:solidFill>
                <a:latin typeface="Cambria" pitchFamily="34" charset="0"/>
                <a:ea typeface="Cambria" pitchFamily="34" charset="-122"/>
                <a:cs typeface="Cambria" pitchFamily="34" charset="-120"/>
              </a:rPr>
              <a:t>What a Business Should Do With This</a:t>
            </a:r>
            <a:endParaRPr lang="en-US" sz="3200" dirty="0"/>
          </a:p>
        </p:txBody>
      </p:sp>
      <p:sp>
        <p:nvSpPr>
          <p:cNvPr id="4" name="Shape 2"/>
          <p:cNvSpPr/>
          <p:nvPr/>
        </p:nvSpPr>
        <p:spPr>
          <a:xfrm>
            <a:off x="640080" y="1965960"/>
            <a:ext cx="685800" cy="685800"/>
          </a:xfrm>
          <a:prstGeom prst="ellipse">
            <a:avLst/>
          </a:prstGeom>
          <a:solidFill>
            <a:srgbClr val="2EC4B6"/>
          </a:solidFill>
          <a:ln/>
        </p:spPr>
      </p:sp>
      <p:pic>
        <p:nvPicPr>
          <p:cNvPr id="5" name="Image 0" descr="/home/claude/deck/icons/rocket_white.png"/>
          <p:cNvPicPr>
            <a:picLocks noChangeAspect="1"/>
          </p:cNvPicPr>
          <p:nvPr/>
        </p:nvPicPr>
        <p:blipFill>
          <a:blip r:embed="rId3"/>
          <a:stretch>
            <a:fillRect/>
          </a:stretch>
        </p:blipFill>
        <p:spPr>
          <a:xfrm>
            <a:off x="736092" y="2061972"/>
            <a:ext cx="493776" cy="493776"/>
          </a:xfrm>
          <a:prstGeom prst="rect">
            <a:avLst/>
          </a:prstGeom>
        </p:spPr>
      </p:pic>
      <p:sp>
        <p:nvSpPr>
          <p:cNvPr id="6" name="Text 3"/>
          <p:cNvSpPr txBox="1"/>
          <p:nvPr/>
        </p:nvSpPr>
        <p:spPr>
          <a:xfrm>
            <a:off x="640080" y="2788920"/>
            <a:ext cx="3520440" cy="640080"/>
          </a:xfrm>
          <a:prstGeom prst="rect">
            <a:avLst/>
          </a:prstGeom>
          <a:noFill/>
          <a:ln/>
        </p:spPr>
        <p:txBody>
          <a:bodyPr wrap="square" lIns="0" tIns="0" rIns="0" bIns="0" rtlCol="0" anchor="ctr"/>
          <a:lstStyle/>
          <a:p>
            <a:pPr marL="0" indent="0">
              <a:lnSpc>
                <a:spcPct val="110000"/>
              </a:lnSpc>
              <a:buNone/>
            </a:pPr>
            <a:r>
              <a:rPr lang="en-US" sz="1600" b="1" dirty="0">
                <a:solidFill>
                  <a:srgbClr val="1B2A4A"/>
                </a:solidFill>
                <a:latin typeface="Cambria" pitchFamily="34" charset="0"/>
                <a:ea typeface="Cambria" pitchFamily="34" charset="-122"/>
                <a:cs typeface="Cambria" pitchFamily="34" charset="-120"/>
              </a:rPr>
              <a:t>Re-price or fix “Next Day”</a:t>
            </a:r>
            <a:endParaRPr lang="en-US" sz="1600" dirty="0"/>
          </a:p>
        </p:txBody>
      </p:sp>
      <p:sp>
        <p:nvSpPr>
          <p:cNvPr id="7" name="Text 4"/>
          <p:cNvSpPr txBox="1"/>
          <p:nvPr/>
        </p:nvSpPr>
        <p:spPr>
          <a:xfrm>
            <a:off x="640080" y="3429000"/>
            <a:ext cx="3520440" cy="1645920"/>
          </a:xfrm>
          <a:prstGeom prst="rect">
            <a:avLst/>
          </a:prstGeom>
          <a:noFill/>
          <a:ln/>
        </p:spPr>
        <p:txBody>
          <a:bodyPr wrap="square" lIns="0" tIns="0" rIns="0" bIns="0" rtlCol="0" anchor="ctr"/>
          <a:lstStyle/>
          <a:p>
            <a:pPr marL="0" indent="0">
              <a:lnSpc>
                <a:spcPct val="125000"/>
              </a:lnSpc>
              <a:buNone/>
            </a:pPr>
            <a:r>
              <a:rPr lang="en-US" sz="1250" dirty="0">
                <a:solidFill>
                  <a:srgbClr val="6B7A99"/>
                </a:solidFill>
                <a:latin typeface="Calibri" pitchFamily="34" charset="0"/>
                <a:ea typeface="Calibri" pitchFamily="34" charset="-122"/>
                <a:cs typeface="Calibri" pitchFamily="34" charset="-120"/>
              </a:rPr>
              <a:t>Either invest in the fulfillment capability to meet the promise, or stop selling a tier that fails 93% of the time.</a:t>
            </a:r>
            <a:endParaRPr lang="en-US" sz="1250" dirty="0"/>
          </a:p>
        </p:txBody>
      </p:sp>
      <p:sp>
        <p:nvSpPr>
          <p:cNvPr id="8" name="Shape 5"/>
          <p:cNvSpPr/>
          <p:nvPr/>
        </p:nvSpPr>
        <p:spPr>
          <a:xfrm>
            <a:off x="4434840" y="1965960"/>
            <a:ext cx="685800" cy="685800"/>
          </a:xfrm>
          <a:prstGeom prst="ellipse">
            <a:avLst/>
          </a:prstGeom>
          <a:solidFill>
            <a:srgbClr val="2EC4B6"/>
          </a:solidFill>
          <a:ln/>
        </p:spPr>
      </p:sp>
      <p:pic>
        <p:nvPicPr>
          <p:cNvPr id="9" name="Image 1" descr="/home/claude/deck/icons/tags_white.png"/>
          <p:cNvPicPr>
            <a:picLocks noChangeAspect="1"/>
          </p:cNvPicPr>
          <p:nvPr/>
        </p:nvPicPr>
        <p:blipFill>
          <a:blip r:embed="rId4"/>
          <a:stretch>
            <a:fillRect/>
          </a:stretch>
        </p:blipFill>
        <p:spPr>
          <a:xfrm>
            <a:off x="4530852" y="2061972"/>
            <a:ext cx="493776" cy="493776"/>
          </a:xfrm>
          <a:prstGeom prst="rect">
            <a:avLst/>
          </a:prstGeom>
        </p:spPr>
      </p:pic>
      <p:sp>
        <p:nvSpPr>
          <p:cNvPr id="10" name="Text 6"/>
          <p:cNvSpPr txBox="1"/>
          <p:nvPr/>
        </p:nvSpPr>
        <p:spPr>
          <a:xfrm>
            <a:off x="4434840" y="2788920"/>
            <a:ext cx="3520440" cy="640080"/>
          </a:xfrm>
          <a:prstGeom prst="rect">
            <a:avLst/>
          </a:prstGeom>
          <a:noFill/>
          <a:ln/>
        </p:spPr>
        <p:txBody>
          <a:bodyPr wrap="square" lIns="0" tIns="0" rIns="0" bIns="0" rtlCol="0" anchor="ctr"/>
          <a:lstStyle/>
          <a:p>
            <a:pPr marL="0" indent="0">
              <a:lnSpc>
                <a:spcPct val="110000"/>
              </a:lnSpc>
              <a:buNone/>
            </a:pPr>
            <a:r>
              <a:rPr lang="en-US" sz="1600" b="1" dirty="0">
                <a:solidFill>
                  <a:srgbClr val="1B2A4A"/>
                </a:solidFill>
                <a:latin typeface="Cambria" pitchFamily="34" charset="0"/>
                <a:ea typeface="Cambria" pitchFamily="34" charset="-122"/>
                <a:cs typeface="Cambria" pitchFamily="34" charset="-120"/>
              </a:rPr>
              <a:t>Audit underperforming brands</a:t>
            </a:r>
            <a:endParaRPr lang="en-US" sz="1600" dirty="0"/>
          </a:p>
        </p:txBody>
      </p:sp>
      <p:sp>
        <p:nvSpPr>
          <p:cNvPr id="11" name="Text 7"/>
          <p:cNvSpPr txBox="1"/>
          <p:nvPr/>
        </p:nvSpPr>
        <p:spPr>
          <a:xfrm>
            <a:off x="4434840" y="3429000"/>
            <a:ext cx="3520440" cy="1645920"/>
          </a:xfrm>
          <a:prstGeom prst="rect">
            <a:avLst/>
          </a:prstGeom>
          <a:noFill/>
          <a:ln/>
        </p:spPr>
        <p:txBody>
          <a:bodyPr wrap="square" lIns="0" tIns="0" rIns="0" bIns="0" rtlCol="0" anchor="ctr"/>
          <a:lstStyle/>
          <a:p>
            <a:pPr marL="0" indent="0">
              <a:lnSpc>
                <a:spcPct val="125000"/>
              </a:lnSpc>
              <a:buNone/>
            </a:pPr>
            <a:r>
              <a:rPr lang="en-US" sz="1250" dirty="0">
                <a:solidFill>
                  <a:srgbClr val="6B7A99"/>
                </a:solidFill>
                <a:latin typeface="Calibri" pitchFamily="34" charset="0"/>
                <a:ea typeface="Calibri" pitchFamily="34" charset="-122"/>
                <a:cs typeface="Calibri" pitchFamily="34" charset="-120"/>
              </a:rPr>
              <a:t>Renegotiate return handling or restocking terms with brands like Philips and Fitbit specifically.</a:t>
            </a:r>
            <a:endParaRPr lang="en-US" sz="1250" dirty="0"/>
          </a:p>
        </p:txBody>
      </p:sp>
      <p:sp>
        <p:nvSpPr>
          <p:cNvPr id="12" name="Shape 8"/>
          <p:cNvSpPr/>
          <p:nvPr/>
        </p:nvSpPr>
        <p:spPr>
          <a:xfrm>
            <a:off x="8229600" y="1965960"/>
            <a:ext cx="685800" cy="685800"/>
          </a:xfrm>
          <a:prstGeom prst="ellipse">
            <a:avLst/>
          </a:prstGeom>
          <a:solidFill>
            <a:srgbClr val="2EC4B6"/>
          </a:solidFill>
          <a:ln/>
        </p:spPr>
      </p:sp>
      <p:pic>
        <p:nvPicPr>
          <p:cNvPr id="13" name="Image 2" descr="/home/claude/deck/icons/chartline_white.png"/>
          <p:cNvPicPr>
            <a:picLocks noChangeAspect="1"/>
          </p:cNvPicPr>
          <p:nvPr/>
        </p:nvPicPr>
        <p:blipFill>
          <a:blip r:embed="rId5"/>
          <a:stretch>
            <a:fillRect/>
          </a:stretch>
        </p:blipFill>
        <p:spPr>
          <a:xfrm>
            <a:off x="8325612" y="2061972"/>
            <a:ext cx="493776" cy="493776"/>
          </a:xfrm>
          <a:prstGeom prst="rect">
            <a:avLst/>
          </a:prstGeom>
        </p:spPr>
      </p:pic>
      <p:sp>
        <p:nvSpPr>
          <p:cNvPr id="14" name="Text 9"/>
          <p:cNvSpPr txBox="1"/>
          <p:nvPr/>
        </p:nvSpPr>
        <p:spPr>
          <a:xfrm>
            <a:off x="8229600" y="2788920"/>
            <a:ext cx="3520440" cy="640080"/>
          </a:xfrm>
          <a:prstGeom prst="rect">
            <a:avLst/>
          </a:prstGeom>
          <a:noFill/>
          <a:ln/>
        </p:spPr>
        <p:txBody>
          <a:bodyPr wrap="square" lIns="0" tIns="0" rIns="0" bIns="0" rtlCol="0" anchor="ctr"/>
          <a:lstStyle/>
          <a:p>
            <a:pPr marL="0" indent="0">
              <a:lnSpc>
                <a:spcPct val="110000"/>
              </a:lnSpc>
              <a:buNone/>
            </a:pPr>
            <a:r>
              <a:rPr lang="en-US" sz="1600" b="1" dirty="0">
                <a:solidFill>
                  <a:srgbClr val="1B2A4A"/>
                </a:solidFill>
                <a:latin typeface="Cambria" pitchFamily="34" charset="0"/>
                <a:ea typeface="Cambria" pitchFamily="34" charset="-122"/>
                <a:cs typeface="Cambria" pitchFamily="34" charset="-120"/>
              </a:rPr>
              <a:t>Track leakage monthly</a:t>
            </a:r>
            <a:endParaRPr lang="en-US" sz="1600" dirty="0"/>
          </a:p>
        </p:txBody>
      </p:sp>
      <p:sp>
        <p:nvSpPr>
          <p:cNvPr id="15" name="Text 10"/>
          <p:cNvSpPr txBox="1"/>
          <p:nvPr/>
        </p:nvSpPr>
        <p:spPr>
          <a:xfrm>
            <a:off x="8229600" y="3429000"/>
            <a:ext cx="3520440" cy="1645920"/>
          </a:xfrm>
          <a:prstGeom prst="rect">
            <a:avLst/>
          </a:prstGeom>
          <a:noFill/>
          <a:ln/>
        </p:spPr>
        <p:txBody>
          <a:bodyPr wrap="square" lIns="0" tIns="0" rIns="0" bIns="0" rtlCol="0" anchor="ctr"/>
          <a:lstStyle/>
          <a:p>
            <a:pPr marL="0" indent="0">
              <a:lnSpc>
                <a:spcPct val="125000"/>
              </a:lnSpc>
              <a:buNone/>
            </a:pPr>
            <a:r>
              <a:rPr lang="en-US" sz="1250" dirty="0">
                <a:solidFill>
                  <a:srgbClr val="6B7A99"/>
                </a:solidFill>
                <a:latin typeface="Calibri" pitchFamily="34" charset="0"/>
                <a:ea typeface="Calibri" pitchFamily="34" charset="-122"/>
                <a:cs typeface="Calibri" pitchFamily="34" charset="-120"/>
              </a:rPr>
              <a:t>Use the dashboard's trend view as an ongoing KPI — leakage % should fall as fixes take effect.</a:t>
            </a:r>
            <a:endParaRPr lang="en-US" sz="1250" dirty="0"/>
          </a:p>
        </p:txBody>
      </p:sp>
      <p:sp>
        <p:nvSpPr>
          <p:cNvPr id="16" name="Shape 11"/>
          <p:cNvSpPr/>
          <p:nvPr/>
        </p:nvSpPr>
        <p:spPr>
          <a:xfrm>
            <a:off x="640080" y="5349240"/>
            <a:ext cx="10881360" cy="822960"/>
          </a:xfrm>
          <a:prstGeom prst="roundRect">
            <a:avLst>
              <a:gd name="adj" fmla="val 11111"/>
            </a:avLst>
          </a:prstGeom>
          <a:solidFill>
            <a:srgbClr val="EAF1FB"/>
          </a:solidFill>
          <a:ln/>
        </p:spPr>
      </p:sp>
      <p:sp>
        <p:nvSpPr>
          <p:cNvPr id="17" name="Text 12"/>
          <p:cNvSpPr txBox="1"/>
          <p:nvPr/>
        </p:nvSpPr>
        <p:spPr>
          <a:xfrm>
            <a:off x="914400" y="5349240"/>
            <a:ext cx="10332720" cy="822960"/>
          </a:xfrm>
          <a:prstGeom prst="rect">
            <a:avLst/>
          </a:prstGeom>
          <a:noFill/>
          <a:ln/>
        </p:spPr>
        <p:txBody>
          <a:bodyPr wrap="square" lIns="0" tIns="0" rIns="0" bIns="0" rtlCol="0" anchor="ctr"/>
          <a:lstStyle/>
          <a:p>
            <a:pPr marL="0" indent="0">
              <a:buNone/>
            </a:pPr>
            <a:r>
              <a:rPr lang="en-US" sz="1300" b="1" i="1" dirty="0">
                <a:solidFill>
                  <a:srgbClr val="1B2A4A"/>
                </a:solidFill>
                <a:latin typeface="Calibri" pitchFamily="34" charset="0"/>
                <a:ea typeface="Calibri" pitchFamily="34" charset="-122"/>
                <a:cs typeface="Calibri" pitchFamily="34" charset="-120"/>
              </a:rPr>
              <a:t>Success metric: watch the Leakage % trend line — it should decline in the months following each intervention.</a:t>
            </a:r>
            <a:endParaRPr lang="en-US" sz="1300" dirty="0"/>
          </a:p>
        </p:txBody>
      </p:sp>
      <p:sp>
        <p:nvSpPr>
          <p:cNvPr id="18" name="Text 13"/>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800" kern="0" spc="100" dirty="0">
                <a:solidFill>
                  <a:srgbClr val="6B7A99"/>
                </a:solidFill>
                <a:latin typeface="Calibri" pitchFamily="34" charset="0"/>
                <a:ea typeface="Calibri" pitchFamily="34" charset="-122"/>
                <a:cs typeface="Calibri" pitchFamily="34" charset="-120"/>
              </a:rPr>
              <a:t>MARKETPLACE PROFIT LEAKAGE &amp; FULFILLMENT RISK INTELLIGENCE</a:t>
            </a:r>
            <a:endParaRPr lang="en-US" sz="800" dirty="0"/>
          </a:p>
        </p:txBody>
      </p:sp>
      <p:sp>
        <p:nvSpPr>
          <p:cNvPr id="19" name="Text 14"/>
          <p:cNvSpPr txBox="1"/>
          <p:nvPr/>
        </p:nvSpPr>
        <p:spPr>
          <a:xfrm>
            <a:off x="11277295" y="6473952"/>
            <a:ext cx="457200" cy="274320"/>
          </a:xfrm>
          <a:prstGeom prst="rect">
            <a:avLst/>
          </a:prstGeom>
          <a:noFill/>
          <a:ln/>
        </p:spPr>
        <p:txBody>
          <a:bodyPr wrap="square" lIns="0" tIns="0" rIns="0" bIns="0" rtlCol="0" anchor="ctr"/>
          <a:lstStyle/>
          <a:p>
            <a:pPr marL="0" indent="0" algn="r">
              <a:buNone/>
            </a:pPr>
            <a:r>
              <a:rPr lang="en-US" sz="800" dirty="0">
                <a:solidFill>
                  <a:srgbClr val="6B7A99"/>
                </a:solidFill>
                <a:latin typeface="Calibri" pitchFamily="34" charset="0"/>
                <a:ea typeface="Calibri" pitchFamily="34" charset="-122"/>
                <a:cs typeface="Calibri"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2A4A"/>
        </a:solidFill>
        <a:effectLst/>
      </p:bgPr>
    </p:bg>
    <p:spTree>
      <p:nvGrpSpPr>
        <p:cNvPr id="1" name=""/>
        <p:cNvGrpSpPr/>
        <p:nvPr/>
      </p:nvGrpSpPr>
      <p:grpSpPr>
        <a:xfrm>
          <a:off x="0" y="0"/>
          <a:ext cx="0" cy="0"/>
          <a:chOff x="0" y="0"/>
          <a:chExt cx="0" cy="0"/>
        </a:xfrm>
      </p:grpSpPr>
      <p:sp>
        <p:nvSpPr>
          <p:cNvPr id="2" name="Text 0"/>
          <p:cNvSpPr txBox="1"/>
          <p:nvPr/>
        </p:nvSpPr>
        <p:spPr>
          <a:xfrm>
            <a:off x="640080" y="411480"/>
            <a:ext cx="9144000" cy="320040"/>
          </a:xfrm>
          <a:prstGeom prst="rect">
            <a:avLst/>
          </a:prstGeom>
          <a:noFill/>
          <a:ln/>
        </p:spPr>
        <p:txBody>
          <a:bodyPr wrap="square" lIns="0" tIns="0" rIns="0" bIns="0" rtlCol="0" anchor="ctr"/>
          <a:lstStyle/>
          <a:p>
            <a:pPr marL="0" indent="0">
              <a:buNone/>
            </a:pPr>
            <a:r>
              <a:rPr lang="en-US" sz="1300" b="1" kern="0" spc="200" dirty="0">
                <a:solidFill>
                  <a:srgbClr val="2EC4B6"/>
                </a:solidFill>
                <a:latin typeface="Calibri" pitchFamily="34" charset="0"/>
                <a:ea typeface="Calibri" pitchFamily="34" charset="-122"/>
                <a:cs typeface="Calibri" pitchFamily="34" charset="-120"/>
              </a:rPr>
              <a:t>SKILLS DEMONSTRATED</a:t>
            </a:r>
            <a:endParaRPr lang="en-US" sz="1300" dirty="0"/>
          </a:p>
        </p:txBody>
      </p:sp>
      <p:sp>
        <p:nvSpPr>
          <p:cNvPr id="3" name="Text 1"/>
          <p:cNvSpPr txBox="1"/>
          <p:nvPr/>
        </p:nvSpPr>
        <p:spPr>
          <a:xfrm>
            <a:off x="640080" y="713232"/>
            <a:ext cx="10789920" cy="77724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The Full Analytics Toolkit, End to End</a:t>
            </a:r>
            <a:endParaRPr lang="en-US" sz="3200" dirty="0"/>
          </a:p>
        </p:txBody>
      </p:sp>
      <p:sp>
        <p:nvSpPr>
          <p:cNvPr id="4" name="Shape 2"/>
          <p:cNvSpPr/>
          <p:nvPr/>
        </p:nvSpPr>
        <p:spPr>
          <a:xfrm>
            <a:off x="640080" y="3063240"/>
            <a:ext cx="1828800" cy="457200"/>
          </a:xfrm>
          <a:prstGeom prst="roundRect">
            <a:avLst>
              <a:gd name="adj" fmla="val 18000"/>
            </a:avLst>
          </a:prstGeom>
          <a:solidFill>
            <a:srgbClr val="233863"/>
          </a:solidFill>
          <a:ln w="9525">
            <a:solidFill>
              <a:srgbClr val="2EC4B6"/>
            </a:solidFill>
            <a:prstDash val="solid"/>
          </a:ln>
        </p:spPr>
      </p:sp>
      <p:sp>
        <p:nvSpPr>
          <p:cNvPr id="5" name="Text 3"/>
          <p:cNvSpPr txBox="1"/>
          <p:nvPr/>
        </p:nvSpPr>
        <p:spPr>
          <a:xfrm>
            <a:off x="640080" y="3063240"/>
            <a:ext cx="18288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pandas &amp; NumPy</a:t>
            </a:r>
            <a:endParaRPr lang="en-US" sz="1200" dirty="0"/>
          </a:p>
        </p:txBody>
      </p:sp>
      <p:sp>
        <p:nvSpPr>
          <p:cNvPr id="6" name="Shape 4"/>
          <p:cNvSpPr/>
          <p:nvPr/>
        </p:nvSpPr>
        <p:spPr>
          <a:xfrm>
            <a:off x="2670048" y="3063240"/>
            <a:ext cx="2468880" cy="457200"/>
          </a:xfrm>
          <a:prstGeom prst="roundRect">
            <a:avLst>
              <a:gd name="adj" fmla="val 18000"/>
            </a:avLst>
          </a:prstGeom>
          <a:solidFill>
            <a:srgbClr val="233863"/>
          </a:solidFill>
          <a:ln w="9525">
            <a:solidFill>
              <a:srgbClr val="2EC4B6"/>
            </a:solidFill>
            <a:prstDash val="solid"/>
          </a:ln>
        </p:spPr>
      </p:sp>
      <p:sp>
        <p:nvSpPr>
          <p:cNvPr id="7" name="Text 5"/>
          <p:cNvSpPr txBox="1"/>
          <p:nvPr/>
        </p:nvSpPr>
        <p:spPr>
          <a:xfrm>
            <a:off x="2670048" y="3063240"/>
            <a:ext cx="246888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Data Quality Auditing</a:t>
            </a:r>
            <a:endParaRPr lang="en-US" sz="1200" dirty="0"/>
          </a:p>
        </p:txBody>
      </p:sp>
      <p:sp>
        <p:nvSpPr>
          <p:cNvPr id="8" name="Shape 6"/>
          <p:cNvSpPr/>
          <p:nvPr/>
        </p:nvSpPr>
        <p:spPr>
          <a:xfrm>
            <a:off x="5340096" y="3063240"/>
            <a:ext cx="2651760" cy="457200"/>
          </a:xfrm>
          <a:prstGeom prst="roundRect">
            <a:avLst>
              <a:gd name="adj" fmla="val 18000"/>
            </a:avLst>
          </a:prstGeom>
          <a:solidFill>
            <a:srgbClr val="233863"/>
          </a:solidFill>
          <a:ln w="9525">
            <a:solidFill>
              <a:srgbClr val="2EC4B6"/>
            </a:solidFill>
            <a:prstDash val="solid"/>
          </a:ln>
        </p:spPr>
      </p:sp>
      <p:sp>
        <p:nvSpPr>
          <p:cNvPr id="9" name="Text 7"/>
          <p:cNvSpPr txBox="1"/>
          <p:nvPr/>
        </p:nvSpPr>
        <p:spPr>
          <a:xfrm>
            <a:off x="5340096" y="3063240"/>
            <a:ext cx="265176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Business-Logic Cleaning</a:t>
            </a:r>
            <a:endParaRPr lang="en-US" sz="1200" dirty="0"/>
          </a:p>
        </p:txBody>
      </p:sp>
      <p:sp>
        <p:nvSpPr>
          <p:cNvPr id="10" name="Shape 8"/>
          <p:cNvSpPr/>
          <p:nvPr/>
        </p:nvSpPr>
        <p:spPr>
          <a:xfrm>
            <a:off x="8193024" y="3063240"/>
            <a:ext cx="2286000" cy="457200"/>
          </a:xfrm>
          <a:prstGeom prst="roundRect">
            <a:avLst>
              <a:gd name="adj" fmla="val 18000"/>
            </a:avLst>
          </a:prstGeom>
          <a:solidFill>
            <a:srgbClr val="233863"/>
          </a:solidFill>
          <a:ln w="9525">
            <a:solidFill>
              <a:srgbClr val="2EC4B6"/>
            </a:solidFill>
            <a:prstDash val="solid"/>
          </a:ln>
        </p:spPr>
      </p:sp>
      <p:sp>
        <p:nvSpPr>
          <p:cNvPr id="11" name="Text 9"/>
          <p:cNvSpPr txBox="1"/>
          <p:nvPr/>
        </p:nvSpPr>
        <p:spPr>
          <a:xfrm>
            <a:off x="8193024" y="3063240"/>
            <a:ext cx="22860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Feature Engineering</a:t>
            </a:r>
            <a:endParaRPr lang="en-US" sz="1200" dirty="0"/>
          </a:p>
        </p:txBody>
      </p:sp>
      <p:sp>
        <p:nvSpPr>
          <p:cNvPr id="12" name="Shape 10"/>
          <p:cNvSpPr/>
          <p:nvPr/>
        </p:nvSpPr>
        <p:spPr>
          <a:xfrm>
            <a:off x="640080" y="3657600"/>
            <a:ext cx="1645920" cy="457200"/>
          </a:xfrm>
          <a:prstGeom prst="roundRect">
            <a:avLst>
              <a:gd name="adj" fmla="val 18000"/>
            </a:avLst>
          </a:prstGeom>
          <a:solidFill>
            <a:srgbClr val="233863"/>
          </a:solidFill>
          <a:ln w="9525">
            <a:solidFill>
              <a:srgbClr val="2EC4B6"/>
            </a:solidFill>
            <a:prstDash val="solid"/>
          </a:ln>
        </p:spPr>
      </p:sp>
      <p:sp>
        <p:nvSpPr>
          <p:cNvPr id="13" name="Text 11"/>
          <p:cNvSpPr txBox="1"/>
          <p:nvPr/>
        </p:nvSpPr>
        <p:spPr>
          <a:xfrm>
            <a:off x="640080" y="3657600"/>
            <a:ext cx="164592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MySQL &amp; CTEs</a:t>
            </a:r>
            <a:endParaRPr lang="en-US" sz="1200" dirty="0"/>
          </a:p>
        </p:txBody>
      </p:sp>
      <p:sp>
        <p:nvSpPr>
          <p:cNvPr id="14" name="Shape 12"/>
          <p:cNvSpPr/>
          <p:nvPr/>
        </p:nvSpPr>
        <p:spPr>
          <a:xfrm>
            <a:off x="2487168" y="3657600"/>
            <a:ext cx="3291840" cy="457200"/>
          </a:xfrm>
          <a:prstGeom prst="roundRect">
            <a:avLst>
              <a:gd name="adj" fmla="val 18000"/>
            </a:avLst>
          </a:prstGeom>
          <a:solidFill>
            <a:srgbClr val="233863"/>
          </a:solidFill>
          <a:ln w="9525">
            <a:solidFill>
              <a:srgbClr val="2EC4B6"/>
            </a:solidFill>
            <a:prstDash val="solid"/>
          </a:ln>
        </p:spPr>
      </p:sp>
      <p:sp>
        <p:nvSpPr>
          <p:cNvPr id="15" name="Text 13"/>
          <p:cNvSpPr txBox="1"/>
          <p:nvPr/>
        </p:nvSpPr>
        <p:spPr>
          <a:xfrm>
            <a:off x="2487168" y="3657600"/>
            <a:ext cx="329184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Window Functions (RANK, NTILE)</a:t>
            </a:r>
            <a:endParaRPr lang="en-US" sz="1200" dirty="0"/>
          </a:p>
        </p:txBody>
      </p:sp>
      <p:sp>
        <p:nvSpPr>
          <p:cNvPr id="16" name="Shape 14"/>
          <p:cNvSpPr/>
          <p:nvPr/>
        </p:nvSpPr>
        <p:spPr>
          <a:xfrm>
            <a:off x="5980176" y="3657600"/>
            <a:ext cx="2011680" cy="457200"/>
          </a:xfrm>
          <a:prstGeom prst="roundRect">
            <a:avLst>
              <a:gd name="adj" fmla="val 18000"/>
            </a:avLst>
          </a:prstGeom>
          <a:solidFill>
            <a:srgbClr val="233863"/>
          </a:solidFill>
          <a:ln w="9525">
            <a:solidFill>
              <a:srgbClr val="2EC4B6"/>
            </a:solidFill>
            <a:prstDash val="solid"/>
          </a:ln>
        </p:spPr>
      </p:sp>
      <p:sp>
        <p:nvSpPr>
          <p:cNvPr id="17" name="Text 15"/>
          <p:cNvSpPr txBox="1"/>
          <p:nvPr/>
        </p:nvSpPr>
        <p:spPr>
          <a:xfrm>
            <a:off x="5980176" y="3657600"/>
            <a:ext cx="201168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RFM Segmentation</a:t>
            </a:r>
            <a:endParaRPr lang="en-US" sz="1200" dirty="0"/>
          </a:p>
        </p:txBody>
      </p:sp>
      <p:sp>
        <p:nvSpPr>
          <p:cNvPr id="18" name="Shape 16"/>
          <p:cNvSpPr/>
          <p:nvPr/>
        </p:nvSpPr>
        <p:spPr>
          <a:xfrm>
            <a:off x="8193024" y="3657600"/>
            <a:ext cx="2834640" cy="457200"/>
          </a:xfrm>
          <a:prstGeom prst="roundRect">
            <a:avLst>
              <a:gd name="adj" fmla="val 18000"/>
            </a:avLst>
          </a:prstGeom>
          <a:solidFill>
            <a:srgbClr val="233863"/>
          </a:solidFill>
          <a:ln w="9525">
            <a:solidFill>
              <a:srgbClr val="2EC4B6"/>
            </a:solidFill>
            <a:prstDash val="solid"/>
          </a:ln>
        </p:spPr>
      </p:sp>
      <p:sp>
        <p:nvSpPr>
          <p:cNvPr id="19" name="Text 17"/>
          <p:cNvSpPr txBox="1"/>
          <p:nvPr/>
        </p:nvSpPr>
        <p:spPr>
          <a:xfrm>
            <a:off x="8193024" y="3657600"/>
            <a:ext cx="283464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Cohort Retention Analysis</a:t>
            </a:r>
            <a:endParaRPr lang="en-US" sz="1200" dirty="0"/>
          </a:p>
        </p:txBody>
      </p:sp>
      <p:sp>
        <p:nvSpPr>
          <p:cNvPr id="20" name="Shape 18"/>
          <p:cNvSpPr/>
          <p:nvPr/>
        </p:nvSpPr>
        <p:spPr>
          <a:xfrm>
            <a:off x="640080" y="4251960"/>
            <a:ext cx="1828800" cy="457200"/>
          </a:xfrm>
          <a:prstGeom prst="roundRect">
            <a:avLst>
              <a:gd name="adj" fmla="val 18000"/>
            </a:avLst>
          </a:prstGeom>
          <a:solidFill>
            <a:srgbClr val="233863"/>
          </a:solidFill>
          <a:ln w="9525">
            <a:solidFill>
              <a:srgbClr val="2EC4B6"/>
            </a:solidFill>
            <a:prstDash val="solid"/>
          </a:ln>
        </p:spPr>
      </p:sp>
      <p:sp>
        <p:nvSpPr>
          <p:cNvPr id="21" name="Text 19"/>
          <p:cNvSpPr txBox="1"/>
          <p:nvPr/>
        </p:nvSpPr>
        <p:spPr>
          <a:xfrm>
            <a:off x="640080" y="4251960"/>
            <a:ext cx="18288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Power BI &amp; DAX</a:t>
            </a:r>
            <a:endParaRPr lang="en-US" sz="1200" dirty="0"/>
          </a:p>
        </p:txBody>
      </p:sp>
      <p:sp>
        <p:nvSpPr>
          <p:cNvPr id="22" name="Shape 20"/>
          <p:cNvSpPr/>
          <p:nvPr/>
        </p:nvSpPr>
        <p:spPr>
          <a:xfrm>
            <a:off x="2670048" y="4251960"/>
            <a:ext cx="3108960" cy="457200"/>
          </a:xfrm>
          <a:prstGeom prst="roundRect">
            <a:avLst>
              <a:gd name="adj" fmla="val 18000"/>
            </a:avLst>
          </a:prstGeom>
          <a:solidFill>
            <a:srgbClr val="233863"/>
          </a:solidFill>
          <a:ln w="9525">
            <a:solidFill>
              <a:srgbClr val="2EC4B6"/>
            </a:solidFill>
            <a:prstDash val="solid"/>
          </a:ln>
        </p:spPr>
      </p:sp>
      <p:sp>
        <p:nvSpPr>
          <p:cNvPr id="23" name="Text 21"/>
          <p:cNvSpPr txBox="1"/>
          <p:nvPr/>
        </p:nvSpPr>
        <p:spPr>
          <a:xfrm>
            <a:off x="2670048" y="4251960"/>
            <a:ext cx="310896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Interactive Dashboard Design</a:t>
            </a:r>
            <a:endParaRPr lang="en-US" sz="1200" dirty="0"/>
          </a:p>
        </p:txBody>
      </p:sp>
      <p:sp>
        <p:nvSpPr>
          <p:cNvPr id="24" name="Shape 22"/>
          <p:cNvSpPr/>
          <p:nvPr/>
        </p:nvSpPr>
        <p:spPr>
          <a:xfrm>
            <a:off x="5980176" y="4251960"/>
            <a:ext cx="2194560" cy="457200"/>
          </a:xfrm>
          <a:prstGeom prst="roundRect">
            <a:avLst>
              <a:gd name="adj" fmla="val 18000"/>
            </a:avLst>
          </a:prstGeom>
          <a:solidFill>
            <a:srgbClr val="233863"/>
          </a:solidFill>
          <a:ln w="9525">
            <a:solidFill>
              <a:srgbClr val="2EC4B6"/>
            </a:solidFill>
            <a:prstDash val="solid"/>
          </a:ln>
        </p:spPr>
      </p:sp>
      <p:sp>
        <p:nvSpPr>
          <p:cNvPr id="25" name="Text 23"/>
          <p:cNvSpPr txBox="1"/>
          <p:nvPr/>
        </p:nvSpPr>
        <p:spPr>
          <a:xfrm>
            <a:off x="5980176" y="4251960"/>
            <a:ext cx="219456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Hypothesis Testing</a:t>
            </a:r>
            <a:endParaRPr lang="en-US" sz="1200" dirty="0"/>
          </a:p>
        </p:txBody>
      </p:sp>
      <p:sp>
        <p:nvSpPr>
          <p:cNvPr id="26" name="Shape 24"/>
          <p:cNvSpPr/>
          <p:nvPr/>
        </p:nvSpPr>
        <p:spPr>
          <a:xfrm>
            <a:off x="8375904" y="4251960"/>
            <a:ext cx="2560320" cy="457200"/>
          </a:xfrm>
          <a:prstGeom prst="roundRect">
            <a:avLst>
              <a:gd name="adj" fmla="val 18000"/>
            </a:avLst>
          </a:prstGeom>
          <a:solidFill>
            <a:srgbClr val="233863"/>
          </a:solidFill>
          <a:ln w="9525">
            <a:solidFill>
              <a:srgbClr val="2EC4B6"/>
            </a:solidFill>
            <a:prstDash val="solid"/>
          </a:ln>
        </p:spPr>
      </p:sp>
      <p:sp>
        <p:nvSpPr>
          <p:cNvPr id="27" name="Text 25"/>
          <p:cNvSpPr txBox="1"/>
          <p:nvPr/>
        </p:nvSpPr>
        <p:spPr>
          <a:xfrm>
            <a:off x="8375904" y="4251960"/>
            <a:ext cx="256032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Executive Storytelling</a:t>
            </a:r>
            <a:endParaRPr lang="en-US" sz="1200" dirty="0"/>
          </a:p>
        </p:txBody>
      </p:sp>
      <p:sp>
        <p:nvSpPr>
          <p:cNvPr id="28" name="Text 26"/>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800" kern="0" spc="100" dirty="0">
                <a:solidFill>
                  <a:srgbClr val="8896B3"/>
                </a:solidFill>
                <a:latin typeface="Calibri" pitchFamily="34" charset="0"/>
                <a:ea typeface="Calibri" pitchFamily="34" charset="-122"/>
                <a:cs typeface="Calibri" pitchFamily="34" charset="-120"/>
              </a:rPr>
              <a:t>MARKETPLACE PROFIT LEAKAGE &amp; FULFILLMENT RISK INTELLIGENCE</a:t>
            </a:r>
            <a:endParaRPr lang="en-US" sz="800" dirty="0"/>
          </a:p>
        </p:txBody>
      </p:sp>
      <p:sp>
        <p:nvSpPr>
          <p:cNvPr id="29" name="Text 27"/>
          <p:cNvSpPr txBox="1"/>
          <p:nvPr/>
        </p:nvSpPr>
        <p:spPr>
          <a:xfrm>
            <a:off x="11277295" y="6473952"/>
            <a:ext cx="457200" cy="274320"/>
          </a:xfrm>
          <a:prstGeom prst="rect">
            <a:avLst/>
          </a:prstGeom>
          <a:noFill/>
          <a:ln/>
        </p:spPr>
        <p:txBody>
          <a:bodyPr wrap="square" lIns="0" tIns="0" rIns="0" bIns="0" rtlCol="0" anchor="ctr"/>
          <a:lstStyle/>
          <a:p>
            <a:pPr marL="0" indent="0" algn="r">
              <a:buNone/>
            </a:pPr>
            <a:r>
              <a:rPr lang="en-US" sz="800" dirty="0">
                <a:solidFill>
                  <a:srgbClr val="8896B3"/>
                </a:solidFill>
                <a:latin typeface="Calibri" pitchFamily="34" charset="0"/>
                <a:ea typeface="Calibri" pitchFamily="34" charset="-122"/>
                <a:cs typeface="Calibri" pitchFamily="34" charset="-120"/>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1C33"/>
        </a:solidFill>
        <a:effectLst/>
      </p:bgPr>
    </p:bg>
    <p:spTree>
      <p:nvGrpSpPr>
        <p:cNvPr id="1" name=""/>
        <p:cNvGrpSpPr/>
        <p:nvPr/>
      </p:nvGrpSpPr>
      <p:grpSpPr>
        <a:xfrm>
          <a:off x="0" y="0"/>
          <a:ext cx="0" cy="0"/>
          <a:chOff x="0" y="0"/>
          <a:chExt cx="0" cy="0"/>
        </a:xfrm>
      </p:grpSpPr>
      <p:sp>
        <p:nvSpPr>
          <p:cNvPr id="2" name="Shape 0"/>
          <p:cNvSpPr/>
          <p:nvPr/>
        </p:nvSpPr>
        <p:spPr>
          <a:xfrm>
            <a:off x="-2286000" y="4114800"/>
            <a:ext cx="5486400" cy="5486400"/>
          </a:xfrm>
          <a:prstGeom prst="ellipse">
            <a:avLst/>
          </a:prstGeom>
          <a:solidFill>
            <a:srgbClr val="1B2A4A"/>
          </a:solidFill>
          <a:ln/>
        </p:spPr>
      </p:sp>
      <p:sp>
        <p:nvSpPr>
          <p:cNvPr id="3" name="Text 1"/>
          <p:cNvSpPr txBox="1"/>
          <p:nvPr/>
        </p:nvSpPr>
        <p:spPr>
          <a:xfrm>
            <a:off x="822960" y="2468880"/>
            <a:ext cx="7315200" cy="91440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4" name="Text 2"/>
          <p:cNvSpPr txBox="1"/>
          <p:nvPr/>
        </p:nvSpPr>
        <p:spPr>
          <a:xfrm>
            <a:off x="822960" y="3337560"/>
            <a:ext cx="7772400" cy="457200"/>
          </a:xfrm>
          <a:prstGeom prst="rect">
            <a:avLst/>
          </a:prstGeom>
          <a:noFill/>
          <a:ln/>
        </p:spPr>
        <p:txBody>
          <a:bodyPr wrap="square" lIns="0" tIns="0" rIns="0" bIns="0" rtlCol="0" anchor="ctr"/>
          <a:lstStyle/>
          <a:p>
            <a:pPr marL="0" indent="0">
              <a:buNone/>
            </a:pPr>
            <a:r>
              <a:rPr lang="en-US" sz="1500" i="1" dirty="0">
                <a:solidFill>
                  <a:srgbClr val="C7D3E8"/>
                </a:solidFill>
                <a:latin typeface="Calibri" pitchFamily="34" charset="0"/>
                <a:ea typeface="Calibri" pitchFamily="34" charset="-122"/>
                <a:cs typeface="Calibri" pitchFamily="34" charset="-120"/>
              </a:rPr>
              <a:t>Questions? Let's talk about how this framework applies to real operational data.</a:t>
            </a:r>
            <a:endParaRPr lang="en-US" sz="1500" dirty="0"/>
          </a:p>
        </p:txBody>
      </p:sp>
      <p:sp>
        <p:nvSpPr>
          <p:cNvPr id="5" name="Text 3"/>
          <p:cNvSpPr txBox="1"/>
          <p:nvPr/>
        </p:nvSpPr>
        <p:spPr>
          <a:xfrm>
            <a:off x="822960" y="4206240"/>
            <a:ext cx="5486400" cy="365760"/>
          </a:xfrm>
          <a:prstGeom prst="rect">
            <a:avLst/>
          </a:prstGeom>
          <a:noFill/>
          <a:ln/>
        </p:spPr>
        <p:txBody>
          <a:bodyPr wrap="square" lIns="0" tIns="0" rIns="0" bIns="0" rtlCol="0" anchor="ctr"/>
          <a:lstStyle/>
          <a:p>
            <a:pPr marL="0" indent="0">
              <a:buNone/>
            </a:pPr>
            <a:r>
              <a:rPr lang="en-US" sz="1400" b="1" dirty="0">
                <a:solidFill>
                  <a:srgbClr val="2EC4B6"/>
                </a:solidFill>
                <a:latin typeface="Calibri" pitchFamily="34" charset="0"/>
                <a:ea typeface="Calibri" pitchFamily="34" charset="-122"/>
                <a:cs typeface="Calibri" pitchFamily="34" charset="-120"/>
              </a:rPr>
              <a:t>[Your Name]</a:t>
            </a:r>
            <a:endParaRPr lang="en-US" sz="1400" dirty="0"/>
          </a:p>
        </p:txBody>
      </p:sp>
      <p:sp>
        <p:nvSpPr>
          <p:cNvPr id="6" name="Text 4"/>
          <p:cNvSpPr txBox="1"/>
          <p:nvPr/>
        </p:nvSpPr>
        <p:spPr>
          <a:xfrm>
            <a:off x="822960" y="4572000"/>
            <a:ext cx="7315200" cy="365760"/>
          </a:xfrm>
          <a:prstGeom prst="rect">
            <a:avLst/>
          </a:prstGeom>
          <a:noFill/>
          <a:ln/>
        </p:spPr>
        <p:txBody>
          <a:bodyPr wrap="square" lIns="0" tIns="0" rIns="0" bIns="0" rtlCol="0" anchor="ctr"/>
          <a:lstStyle/>
          <a:p>
            <a:pPr marL="0" indent="0">
              <a:buNone/>
            </a:pPr>
            <a:r>
              <a:rPr lang="en-US" sz="1300" dirty="0">
                <a:solidFill>
                  <a:srgbClr val="8896B3"/>
                </a:solidFill>
                <a:latin typeface="Calibri" pitchFamily="34" charset="0"/>
                <a:ea typeface="Calibri" pitchFamily="34" charset="-122"/>
                <a:cs typeface="Calibri" pitchFamily="34" charset="-120"/>
              </a:rPr>
              <a:t>[your.email@example.com]   •   [LinkedIn]   •   [GitHub Repository]</a:t>
            </a:r>
            <a:endParaRPr lang="en-US" sz="1300" dirty="0"/>
          </a:p>
        </p:txBody>
      </p:sp>
      <p:sp>
        <p:nvSpPr>
          <p:cNvPr id="7" name="Text 5"/>
          <p:cNvSpPr txBox="1"/>
          <p:nvPr/>
        </p:nvSpPr>
        <p:spPr>
          <a:xfrm>
            <a:off x="457200" y="6473952"/>
            <a:ext cx="7315200" cy="274320"/>
          </a:xfrm>
          <a:prstGeom prst="rect">
            <a:avLst/>
          </a:prstGeom>
          <a:noFill/>
          <a:ln/>
        </p:spPr>
        <p:txBody>
          <a:bodyPr wrap="square" lIns="0" tIns="0" rIns="0" bIns="0" rtlCol="0" anchor="ctr"/>
          <a:lstStyle/>
          <a:p>
            <a:pPr marL="0" indent="0">
              <a:buNone/>
            </a:pPr>
            <a:r>
              <a:rPr lang="en-US" sz="800" kern="0" spc="100" dirty="0">
                <a:solidFill>
                  <a:srgbClr val="8896B3"/>
                </a:solidFill>
                <a:latin typeface="Calibri" pitchFamily="34" charset="0"/>
                <a:ea typeface="Calibri" pitchFamily="34" charset="-122"/>
                <a:cs typeface="Calibri" pitchFamily="34" charset="-120"/>
              </a:rPr>
              <a:t>MARKETPLACE PROFIT LEAKAGE &amp; FULFILLMENT RISK INTELLIGENCE</a:t>
            </a:r>
            <a:endParaRPr lang="en-US" sz="800" dirty="0"/>
          </a:p>
        </p:txBody>
      </p:sp>
      <p:sp>
        <p:nvSpPr>
          <p:cNvPr id="8" name="Text 6"/>
          <p:cNvSpPr txBox="1"/>
          <p:nvPr/>
        </p:nvSpPr>
        <p:spPr>
          <a:xfrm>
            <a:off x="11277295" y="6473952"/>
            <a:ext cx="457200" cy="274320"/>
          </a:xfrm>
          <a:prstGeom prst="rect">
            <a:avLst/>
          </a:prstGeom>
          <a:noFill/>
          <a:ln/>
        </p:spPr>
        <p:txBody>
          <a:bodyPr wrap="square" lIns="0" tIns="0" rIns="0" bIns="0" rtlCol="0" anchor="ctr"/>
          <a:lstStyle/>
          <a:p>
            <a:pPr marL="0" indent="0" algn="r">
              <a:buNone/>
            </a:pPr>
            <a:r>
              <a:rPr lang="en-US" sz="800" dirty="0">
                <a:solidFill>
                  <a:srgbClr val="8896B3"/>
                </a:solidFill>
                <a:latin typeface="Calibri" pitchFamily="34" charset="0"/>
                <a:ea typeface="Calibri" pitchFamily="34" charset="-122"/>
                <a:cs typeface="Calibri" pitchFamily="34" charset="-120"/>
              </a:rPr>
              <a:t>15</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1169</Words>
  <Application>Microsoft Office PowerPoint</Application>
  <PresentationFormat>Widescreen</PresentationFormat>
  <Paragraphs>178</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pinky bisht</cp:lastModifiedBy>
  <cp:revision>1</cp:revision>
  <dcterms:created xsi:type="dcterms:W3CDTF">2026-09-22T10:57:25Z</dcterms:created>
  <dcterms:modified xsi:type="dcterms:W3CDTF">2026-09-30T10:12:32Z</dcterms:modified>
</cp:coreProperties>
</file>